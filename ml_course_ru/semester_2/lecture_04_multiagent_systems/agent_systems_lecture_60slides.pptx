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0"/>
  </p:notesMasterIdLst>
  <p:sldIdLst>
    <p:sldId id="256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45"/>
    <p:restoredTop sz="94610"/>
  </p:normalViewPr>
  <p:slideViewPr>
    <p:cSldViewPr snapToGrid="0" snapToObjects="1">
      <p:cViewPr>
        <p:scale>
          <a:sx n="400" d="100"/>
          <a:sy n="400" d="100"/>
        </p:scale>
        <p:origin x="-4656" y="-2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08181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15568"/>
            <a:ext cx="6812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Агентные системы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современный ИИ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13232" y="2788920"/>
            <a:ext cx="6217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больших языковых моделей к автономным многоагентным системам: архитектуры, инструменты, память, качество и безопасность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агентный подход стал центральной темой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38912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алгоритм-одиночка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877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традиционная программа выполняет заранее заданную логику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воспринимает состояние среды и выбирает действие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ценность появляется в динамичных, неполных и изменчивых задачах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38912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Гиперавтоматизация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877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агенты становятся цифровыми сотрудниками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умеют разбивать задачу, вызывать инструменты и проверять результат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связывают естественный язык, данные и бизнес-процесс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389120"/>
          </a:xfrm>
          <a:prstGeom prst="roundRect">
            <a:avLst>
              <a:gd name="adj" fmla="val 2078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Коллективный разум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877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сложное поведение возникает из взаимодействия множества простых участников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аналогии: муравейник, рой, нейронные ансамбли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многоагентные системы масштабируются лучше монолитов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восприятие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рассуждение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действие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такое интеллектуальный агент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097280"/>
            <a:ext cx="5166360" cy="4709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- автономная сущность, которая получает наблюдения из среды, строит внутреннюю интерпретацию ситуации и воздействует на среду через исполнительные механизмы.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Главные свойства: автономность, адаптивность, целеполагание, способность работать при изменении условий и неполноте данных.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 современной трактовке агент может быть программным, физическим или смешанным: чат-бот, робот, дрон, финансовый алгоритм, медицинский помощник.</a:t>
            </a:r>
            <a:endParaRPr lang="en-US" sz="1310" dirty="0"/>
          </a:p>
          <a:p>
            <a:pPr marL="0" indent="0">
              <a:buNone/>
            </a:pPr>
            <a:r>
              <a:rPr lang="en-US" sz="131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Большая языковая модель добавляет агенту естественно-языковой интерфейс, рассуждение и способность связывать разнородные инструменты.</a:t>
            </a:r>
            <a:endParaRPr lang="en-US" sz="1310" dirty="0"/>
          </a:p>
        </p:txBody>
      </p:sp>
      <p:sp>
        <p:nvSpPr>
          <p:cNvPr id="8" name="Shape 6"/>
          <p:cNvSpPr/>
          <p:nvPr/>
        </p:nvSpPr>
        <p:spPr>
          <a:xfrm>
            <a:off x="5989320" y="1051560"/>
            <a:ext cx="5623560" cy="5166360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9" name="Image 0" descr="/mnt/data/agent_assets/fig_p3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2130417"/>
            <a:ext cx="5477256" cy="288063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099048" y="6035040"/>
            <a:ext cx="5404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1.1: общая схема агента и среды функционирования (с. 38)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21792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сенсоры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340864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414016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мозг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059936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исполнители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PEAS как техническое задание агента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02336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5112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метрики успеха и ограничения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точность, стоимость, задержка, безопасность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важно избегать конфликта метрик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023360"/>
          </a:xfrm>
          <a:prstGeom prst="roundRect">
            <a:avLst>
              <a:gd name="adj" fmla="val 283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5112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цифровая или физическая среда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наблюдаемость, динамика, стохастика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правила, ресурсы, противники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02336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Actuators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5112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API, механизмы, интерфейсы, команды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преобразуют решение в действие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задают реальные границы автономии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02336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5112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данные, сенсоры, логи, документы, события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качество сенсоров определяет качество поведения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нужны фильтрация и проверка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действие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наблюдение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реактивности к проактивно-рекурсивному поведению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Реактивный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работает по принципу «стимул - реакция»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 имеет глубокой памяти и модели мира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быстр, но плохо адаптируется</a:t>
            </a:r>
            <a:endParaRPr lang="en-US" sz="118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Активный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имеет внутреннее состояние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учитывает историю взаимодействия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способен выбирать действие по приоритетам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Проактивный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строит модель среды и прогнозирует последствия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планирует поведение, а не только реагирует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подходит для динамичных задач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Проактивно-рекурсивный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моделирует и среду, и собственное будущее состояние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оценивает влияние своих действий на собственные возможности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требует метаобучения и рефлексии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реакция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прогноз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самомодель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Историческая линия: как агенты усложнялись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06908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1950-1960-е: кибернетика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557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обратная связь, саморегуляция, адаптивное управление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зачатки идеи «среда - действие - коррекция»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069080"/>
          </a:xfrm>
          <a:prstGeom prst="roundRect">
            <a:avLst>
              <a:gd name="adj" fmla="val 283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1970-1980-е: экспертные системы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557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правила, базы знаний, логический вывод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сильны в узких доменах, слабы при изменении условий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06908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1990-2000-е: многоагентные платформы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557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распределённость, протоколы коммуникации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логистика, роботы, электронная коммерция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06908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2010-2020-е: глубокое обучение и LLM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557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модели учатся на больших данных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агенты получают язык, планирование и инструменты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agents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природа - лучший конструктор многоагентности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Муравьи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локальные правила и феромонная обратная связь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поиск путей, распределение ресурсов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аналог: оптимизация маршрутов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Пчёлы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групповое принятие решений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коммуникация через «танцы»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аналог: распределённый консенсус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Мозг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множество простых нейронных элементов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эмерджентные память, прогноз, решение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аналог: общество агентов и коллективная когниция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3425952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3279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локальные сигналы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3062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7784" y="5650992"/>
            <a:ext cx="3425952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40936" y="5788152"/>
            <a:ext cx="3279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самоорганизация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82116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58328" y="5650992"/>
            <a:ext cx="3425952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31480" y="5788152"/>
            <a:ext cx="3279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устойчивое поведение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Большая языковая модель как когнитивное ядро агента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Естественный язык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пользователь формулирует цель без кода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модель превращает запрос в план действий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снижается барьер внедрения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Рассуждение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модель декомпозирует задачу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генерирует гипотезы и объяснения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поддерживает контекст диалога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к инструментам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модель выбирает API, поиск, базу данных или калькулятор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формирует команды и интерпретирует результаты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становится менеджером цифрового процесса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одной языковой модели недостаточно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Галлюцинации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модель предсказывает правдоподобный текст, но не гарантирует факт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нужны источники, верификация и ограничения</a:t>
            </a:r>
            <a:endParaRPr lang="en-US" sz="117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Статичные знания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знания ограничены корпусом обучения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актуальные события и корпоративные данные требуют поиска и RAG</a:t>
            </a:r>
            <a:endParaRPr lang="en-US" sz="117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действия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сама модель не отправляет письмо, не меняет запись и не управляет устройством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нужен инструментальный слой</a:t>
            </a:r>
            <a:endParaRPr lang="en-US" sz="117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 контекст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нельзя поместить весь мир в окно контекста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нужны память, извлечение и управление состоянием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верификация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Трёхуровневая архитектура метакогнитивного агента с RAG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33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506204"/>
            <a:ext cx="7168896" cy="4083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0.2: обобщённая диаграмма архитектуры метакогнитивного агента с RAG (с. 33)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 центре - генеративная модель: она формирует гипотезы, планы и ответы.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Метакогнитивный контроллер задаёт цикл планирования, мониторинга, оценки и коррекции.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RAG и инструментальный слой соединяют модель с документами, базами данных, API и специализированными действиями.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Память обеспечивает продолжительность опыта и накопление знаний.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Генеративные модели: что они дают агенту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11480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Синтез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02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генерация текста, кода, изображений и объяснений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переход от классификации к созданию новых объектов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11480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Обобщение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02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использование скрытой структуры данных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перенос знаний между задачами и форматами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114800"/>
          </a:xfrm>
          <a:prstGeom prst="roundRect">
            <a:avLst>
              <a:gd name="adj" fmla="val 283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Интерактивность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02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диалог с пользователем и другими агентами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уточнение задачи через естественный язык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114800"/>
          </a:xfrm>
          <a:prstGeom prst="roundRect">
            <a:avLst>
              <a:gd name="adj" fmla="val 2832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Недостаток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02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модель не знает текущий мир и не действует сама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агентность возникает только после подключения управления и инструментов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генерация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рассуждение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диалог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действие через tools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Трансформер и внимание как механизм контекста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Самовнимание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каждый токен оценивает значимость других токенов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модель удерживает дальние зависимости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контекст становится вычислительным ресурсом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Авторегрессия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следующий токен зависит от всей предыдущей цепочки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рассуждение разворачивается во времени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промежуточные шаги улучшают финальный ответ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при росте параметров появляются новые способности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код, перевод, анализ документов, планирование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для агента это универсальный интерфейс к задачам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контекст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внимание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должен воспринимать не только текст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Визуальный канал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изображения, схемы, скриншоты интерфейсов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распознавание объектов, диаграмм и действий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Аудио и видео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голосовые команды, переговоры, процессы во времени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возможность анализа динамики и поведения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Структурированные данные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таблицы, JSON, SQL, графы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связывает факты с текстовой интерпретацией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Физический мир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роботы и дроны требуют сенсорики и обратной связи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мультимодальность связывает зрение, моторику и логику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изображение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действие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Метакогнитивный слой: мышление о мышлении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097280"/>
            <a:ext cx="5166360" cy="4709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Метакогнитивная промпт-инженерия задаёт модели правила саморегуляции: как планировать, проверять себя, уточнять данные и исправлять ошибки.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Классическая схема включает когнитивный уровень решения задачи и метакогнитивный уровень контроля, анализа и коррекции.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Для агента это не «красивое объяснение», а механизм устойчивости: при низкой уверенности агент запрашивает данные, вызывает инструмент или передаёт задачу человеку.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Рефлексия второго порядка позволяет улучшать поведение между сессиями через память и журналы ошибок.</a:t>
            </a:r>
            <a:endParaRPr lang="en-US" sz="1280" dirty="0"/>
          </a:p>
        </p:txBody>
      </p:sp>
      <p:sp>
        <p:nvSpPr>
          <p:cNvPr id="8" name="Shape 6"/>
          <p:cNvSpPr/>
          <p:nvPr/>
        </p:nvSpPr>
        <p:spPr>
          <a:xfrm>
            <a:off x="5989320" y="1051560"/>
            <a:ext cx="5623560" cy="5166360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9" name="Image 0" descr="/mnt/data/agent_assets/fig_p27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401" y="1124712"/>
            <a:ext cx="4631399" cy="4892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099048" y="6035040"/>
            <a:ext cx="5404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0.1: общая схема метакогниции (с. 27)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21792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планирование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340864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414016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мониторинг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059936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регуляция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Chain-of-Thought: зачем агенту видимая цепочка вывода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Декомпозиция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сложная задача разбивается на шаги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каждый шаг становится контекстом для следующего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меньше скачков к ошибочному выводу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Интерпретируемость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можно понять, где модель ошиблась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разработчик получает материал для отладки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пользователь видит логику решения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рассуждение без действия не решает задачу полностью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нужны инструменты, наблюдения и проверка фактов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9440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3156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0471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 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48733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85893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9045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 2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03059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40219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3371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25738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9454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6769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ReAct: чередование размышления, действия и наблюдения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097280"/>
            <a:ext cx="5166360" cy="4709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объединяет reasoning и acting: агент не просто рассуждает, а вызывает инструмент и возвращает наблюдение в контекст.</a:t>
            </a:r>
            <a:endParaRPr lang="en-US" sz="1260" dirty="0"/>
          </a:p>
          <a:p>
            <a:pPr marL="0" indent="0">
              <a:buNone/>
            </a:pPr>
            <a:r>
              <a:rPr lang="en-US" sz="126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Стандартный цикл: Thought - анализ ситуации; Action - выбор инструмента; Observation - результат; затем новый Thought.</a:t>
            </a:r>
            <a:endParaRPr lang="en-US" sz="1260" dirty="0"/>
          </a:p>
          <a:p>
            <a:pPr marL="0" indent="0">
              <a:buNone/>
            </a:pPr>
            <a:r>
              <a:rPr lang="en-US" sz="126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Цикл критичен для актуальных данных, вычислений, поиска по документам, взаимодействия с API и выполнения действий в системе.</a:t>
            </a:r>
            <a:endParaRPr lang="en-US" sz="1260" dirty="0"/>
          </a:p>
          <a:p>
            <a:pPr marL="0" indent="0">
              <a:buNone/>
            </a:pPr>
            <a:r>
              <a:rPr lang="en-US" sz="126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Риск ReAct - бесконечные циклы, неверный выбор инструментов и накопление ошибок; поэтому нужны ограничения, бюджеты, логирование и тесты.</a:t>
            </a:r>
            <a:endParaRPr lang="en-US" sz="1260" dirty="0"/>
          </a:p>
        </p:txBody>
      </p:sp>
      <p:sp>
        <p:nvSpPr>
          <p:cNvPr id="8" name="Shape 6"/>
          <p:cNvSpPr/>
          <p:nvPr/>
        </p:nvSpPr>
        <p:spPr>
          <a:xfrm>
            <a:off x="5989320" y="1051560"/>
            <a:ext cx="5623560" cy="5166360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9" name="Image 0" descr="/mnt/data/agent_assets/fig_p93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1360164"/>
            <a:ext cx="5477256" cy="442113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099048" y="6035040"/>
            <a:ext cx="5404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5.1: цикл ReAct (с. 93)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21792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340864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414016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059936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как «органы восприятия» агента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находит релевантные фрагменты в базе знаний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использует векторный, лексический или гибридный поиск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может фильтровать по метаданным и доступу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синтезирует ответ на основе извлечённых фрагментов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привязывает вывод к источникам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снижает риск галлюцинаций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RAG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 один поиск, а серия уточняющих запросов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сам решает, какие данные нужны дальше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поиск становится частью плана действий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9440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3156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0471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48733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85893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9045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контекст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03059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40219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3371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генерация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25738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9454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6769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Инструментальный слой: от текста к действию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097280"/>
            <a:ext cx="5166360" cy="4709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Инструменты превращают намерение модели в операцию: SQL-запрос, вызов API, поиск, расчёт, создание документа, запуск симулятора.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Варианты интеграции: прямой вызов, реестр инструментов, вложенные вызовы и композиция нескольких сервисов.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Ключевые инженерные вопросы: описание интерфейсов, проверка аргументов, ограничения прав, обработка ошибок, журналирование и откат.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Чем больше инструментов, тем важнее метакогнитивный выбор: агент должен знать, когда инструмент нужен, а когда ответ можно дать из контекста.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89320" y="1051560"/>
            <a:ext cx="5623560" cy="5166360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9" name="Image 0" descr="/mnt/data/agent_assets/fig_p79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2095961"/>
            <a:ext cx="5477256" cy="29495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099048" y="6035040"/>
            <a:ext cx="5404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4.2: реестр инструментов (с. 79)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21792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340864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414016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059936" y="5989320"/>
            <a:ext cx="1536192" cy="310896"/>
          </a:xfrm>
          <a:prstGeom prst="roundRect">
            <a:avLst>
              <a:gd name="adj" fmla="val 35294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6062472"/>
            <a:ext cx="138988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Память агента: без неё нет продолжительного поведения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Краткосрочная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текущий диалог, рабочий контекст, активная задача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быстро устаревает, но нужна для связности ответа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Долгосрочная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профиль пользователя, опыт, извлечённые правила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обеспечивает персонализацию и обучение на истории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Эпизодическая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последовательности ситуаций и решений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полезна для разбора ошибок и похожих кейсов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Семантическая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устойчивые знания, факты, документы, графы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часто реализуется через RAG и базы знаний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контекст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история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опыт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знания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состоянием: что агент должен помнить прямо сейчас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состояние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цель, текущий план, выполненные шаги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активные ограничения и бюджет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последние наблюдения инструментов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среды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что изменилось после действия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какие объекты, пользователи или документы затронуты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какие данные устарели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риска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уровень уверенности, предупреждения, нарушения политики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сигналы необходимости эскалации человеку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handoff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Кибернетическая петля «восприятие - действие»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6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567625"/>
            <a:ext cx="7168896" cy="396049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3.1: кибернетическая модель общей схемы (с. 65)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получает наблюдения, строит интерпретацию и выбирает действие.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Действие изменяет среду; среда возвращает новое наблюдение.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Петля должна быть быстрой, измеримой и устойчивой к шуму.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 цифровом агенте роль сенсоров играют документы, API, логи и сообщения.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Ментальная модель мира: зачем агенту «карта реальности»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Убеждения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 просто факты, а рабочая версия состояния мира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могут быть неполными и ошибочными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должны обновляться после наблюдений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Прогноз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если я сделаю X, что произойдёт дальше?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нужны вероятностные сценарии, а не один ответ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особенно важно для транспорта, роботов и финансов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других агентов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оценка намерений, стратегий и риска взаимодействия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Theory of Mind для кооперации и конкуренции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позволяет предсказывать реакцию среды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наблюдение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убеждение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сценарии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действие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BDI: убеждения, желания, намерения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Beliefs - убеждения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что агент считает истинным о среде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обновляется сенсорами, RAG и сообщениями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может быть вероятностным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Desires - желания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целевые состояния и предпочтения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могут конфликтовать между собой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требуют приоритизации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Intentions - намерения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выбранный план, который агент обязался исполнять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стабилизирует поведение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пересматривается при провале или риске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 revision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9440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3156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0471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48733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85893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9045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03059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40219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3371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intention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25738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9454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6769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Реактивные агенты и архитектура субсумпции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минимальная задержка реакции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простая отладка и предсказуемость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подходит для локальных безопасных рефлексов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слои поведения с приоритетом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нижние слои защищают от опасности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верхние решают более сложные цели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Слабость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нет глубокого планирования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плохо переносит новые условия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сложность растёт при добавлении правил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препятствие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остановка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обход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возврат к плану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Гибридный агент: рефлексы + планирование + стратегия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Нижний слой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реакции в миллисекундах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безопасность, стабилизация, аварийная остановка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работает даже при сбое планировщика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слой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локальное планирование маршрута или действия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перепланирование при изменении условий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управление текущей задачей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Верхний слой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глобальные цели и оптимизация ресурсов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приоритеты, очереди задач, кооперация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работает медленнее, но глубже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рефлекс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локальный план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выбрать архитектуру агента под задачу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56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036259"/>
            <a:ext cx="7168896" cy="302322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2.1: блок-схема принятия архитектурного решения (с. 56)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Простая, статичная и детерминированная среда часто допускает реактивный агент.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Если нужны контекст, память и многошаговое планирование - выбирается когнитивная архитектура.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Динамичная среда с требованиями к скорости реакции обычно требует гибридной архитектуры.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Многоагентность добавляет коммуникацию, координацию и протоколы согласования.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такое многоагентная система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Совокупность агентов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каждый агент автономен в рамках своей компетенции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система решает задачу не одним монолитом, а распределённо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среда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агенты действуют в одном цифровом или физическом пространстве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результаты действий одних становятся условиями для других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Взаимодействие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сообщения, общая память, протоколы, переговоры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кооперация, конкуренция или смешанный режим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Эмерджентность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глобальное поведение появляется из локальных правил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система может быть устойчивее монолита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B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общий результат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разрезы многоагентных систем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взаимодействию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кооперативные: общая цель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конкурентные: конфликт интересов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смешанные: режим зависит от ситуации</a:t>
            </a:r>
            <a:endParaRPr lang="en-US" sz="117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управлению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централизованные с координатором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децентрализованные равноправные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иерархические и гибридные</a:t>
            </a:r>
            <a:endParaRPr lang="en-US" sz="117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архитектуре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реактивные, когнитивные, гибридные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разные временные масштабы поведения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разная цена коммуникации</a:t>
            </a:r>
            <a:endParaRPr lang="en-US" sz="117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задачам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распределённая оптимизация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поиск и спасение, логистика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распределённое обучение и коллективные решения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протокол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координация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агенты договариваются и передают знания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Прямые сообщения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запросы, ответы, команды, подтверждения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подходит для явной координации и аудита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требует протоколов и схем сообщений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Косвенное взаимодействие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следы в среде: статусы, занятость, феромонные аналоги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хорошо масштабируется, но менее прозрачно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Общее хранилище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база знаний, доска задач, журнал событий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агенты читают и записывают артефакты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важны права доступа и версии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blackboard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Режимы коллективного поведения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Кооперация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общая целевая функция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распределение задач и ресурсов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критично для складов, транспорта, научных агентов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Конкуренция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агенты имеют собственные интересы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нужны механизмы торгов, аукционов, равновесий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пример: рынки и переговоры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Смешанный режим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агенты могут сотрудничать внутри группы и конкурировать между группами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требуется управление конфликтами и приоритетами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конфликт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согласование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Эмерджентность: когда система умнее суммы частей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Локальные правила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видит только часть среды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действует по простым правилам или локальной оптимизации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 требует полного глобального знания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Обратные связи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успешные маршруты, рейтинги, состояния и «следы» усиливаются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неудачные решения ослабляются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система перестраивается без ручного центра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51960"/>
          </a:xfrm>
          <a:prstGeom prst="roundRect">
            <a:avLst>
              <a:gd name="adj" fmla="val 2078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Риски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локальная оптимальность может породить глобально плохое поведение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нужны метрики, ограничения и мониторинг эмерджентных эффектов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локальное действие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 в среде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усиление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глобальный паттерн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Многоагентное планирование с оркестрацией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9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617" y="1078992"/>
            <a:ext cx="6130127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5.2: последовательность выполнения в Gradientsys, многоагентное планирование с MCP-оркестрацией (с. 98)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Оркестратор принимает задачу, декомпозирует её и распределяет между специализированными агентами.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Каждый агент может работать со своими инструментами и возвращать результат в общий контекст.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Важна трассировка: кто принял решение, какие данные использовал, какой результат передал дальше.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 промышленной реализации нужны тайм-ауты, бюджеты, ретраи и эскалация.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Инженерные принципы разработки агентов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Модульность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отделять модель, память, инструменты, политики и интерфейс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каждый компонент можно тестировать независимо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Наблюдаемость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журналировать промпты, вызовы инструментов, наблюдения и решения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без трассировки агент становится «чёрным ящиком»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Управляемая автономность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ограничивать права, стоимость и глубину действий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опасные операции требуют подтверждения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9440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3156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0471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48733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85893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9045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03059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40219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3371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25738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9454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6769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паттернов проектирования агентных систем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13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267539"/>
            <a:ext cx="7168896" cy="45606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7.17: модель принятия решения для каталога паттернов (с. 135)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Каталог паттернов помогает выбирать решение не по моде, а по типу проблемы.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Группы паттернов: цели, контекст, рефлексия, сотрудничество, безопасность, инструменты, планирование, взаимодействие с моделью.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Важно фиксировать не только «как сделать», но и когда паттерн противопоказан.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Паттерны должны сопровождаться метриками успеха и тестовыми сценариями.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Проактивный генератор целей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125_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729742"/>
            <a:ext cx="7168896" cy="36362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7.2: проактивный генератор целей (с. 125)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анализирует внешние сигналы, внутреннюю память и состояние задачи.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Новая цель появляется не только из запроса, но и из обнаруженной возможности или риска.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Нужен фильтр полезности: не всякая потенциальная цель должна становиться действием.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Для организации важно разделять совет, подготовку и исполнение.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Оптимизация промптов и ответов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125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48" y="1078992"/>
            <a:ext cx="7008064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7.3: оптимизатор промптов и ответов (с. 125)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Оптимизатор уточняет запрос, формат ответа и критерии качества до вызова модели.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После ответа возможна итерация: проверка, редактирование, улучшение структуры.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Паттерн снижает шум и повышает воспроизводимость результатов.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Важно сохранять историю версий промптов и результаты A/B-проверок.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Расширитель контекста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126_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31274"/>
            <a:ext cx="7168896" cy="42331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7.4: расширитель контекста (с. 126)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Расширитель добавляет к запросу документы, профиль, историю и внешние данные.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Это мост между голым промптом и полноценной агентной памятью.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Основная опасность - перегрузка контекста нерелевантной информацией.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Нужны ранжирование, фильтры доступа и политика свежести данных.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Рефлексия и самоконтроль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127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262575"/>
            <a:ext cx="7168896" cy="257059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7.5: три архитектурных паттерна рефлексии (с. 127)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Рефлексия позволяет агенту проверять собственный ответ до выдачи пользователю.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Самоконтроль может быть встроенным, отдельным агентом-критиком или многоагентным обсуждением.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Рефлексия повышает качество, но увеличивает задержку и стоимость.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Решение о включении рефлексии должно зависеть от риска задачи.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Голосование, роли и дебаты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12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962801"/>
            <a:ext cx="7168896" cy="31701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7.6: сотрудничество на основе голосования (с. 127)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Голосование снижает риск случайной ошибки одной модели или одного агента.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Ролевое сотрудничество разделяет экспертизы: аналитик, критик, исполнитель, валидатор.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Дебаты полезны при неоднозначных решениях, но требуют арбитра.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 практической системе нужны правила остановки и разрешения конфликтов.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Мультимодальные гарды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129_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244486"/>
            <a:ext cx="7168896" cy="460677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7.9: мультимодальные гарды (с. 129)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Гарды проверяют не только текст, но и изображения, файлы, действия и внешние данные.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Они стоят между пользователем, моделью, инструментами и внешней средой.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Защита должна работать до, во время и после действия агента.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Гарды не заменяют тестирование: они являются одним из слоёв обороны.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инструментов и адаптер агента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13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757982"/>
            <a:ext cx="7168896" cy="357978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7.10: реестр инструментов и агентов (с. 130)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Реестр позволяет агенту найти нужный инструмент по описанию и контексту задачи.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Адаптер нормализует интерфейсы: разные API становятся единым способом действия.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Каталог инструментов должен быть версионирован и документирован.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Критичные инструменты требуют проверки прав и ручного подтверждения.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Планирование и многоагентность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132_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82635"/>
            <a:ext cx="7168896" cy="23304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7.14: паттерн многоагентности (с. 132)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Планировщик переводит цель в последовательность подзадач и зависимостей.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Многоагентный паттерн распределяет подзадачи между специализированными участниками.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Нужны механизмы синхронизации: кто ждёт чей результат, кто отвечает за итог.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Плохой планировщик превращает сильных агентов в хаотичную группу.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 качества агентных систем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Итоговый результат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корректность, полнота, полезность, соответствие задаче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сравнение с эталоном или экспертной оценкой</a:t>
            </a:r>
            <a:endParaRPr lang="en-US" sz="118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Промежуточное поведение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логичность плана, качество вызовов инструментов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ошибки рассуждения и ненужные циклы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задержка, стоимость, число вызовов модели и API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масштабирование параллельных сессий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безопасность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устойчивость к сбоям, инъекциям, утечкам данных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соблюдение политик и прав доступа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построить оценивание агента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Наборы задач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репрезентативные пользовательские сценарии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нормальные, граничные и вредоносные случаи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версии наборов должны фиксироваться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Автоматическая оценка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правила, метрики, сравнение с эталонами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LLM-as-a-judge может помогать, но требует калибровки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в цикле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эксперт проверяет спорные и высокорисковые случаи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пользовательский опыт оценивается отдельно от точности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9440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3156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0471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48733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85893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9045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03059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40219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3371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25738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9454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6769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Пирамида тестирования агентов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Юнит-тесты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промпты, парсеры, функции, валидаторы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быстрые проверки локальных компонентов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Интеграционные тесты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модель + инструменты + память + права доступа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проверка контрактов API и ошибок внешних сервисов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Сквозные тесты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полный пользовательский путь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оценка результата и трассы поведения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регрессия при смене модели или промпта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Нагрузочные тесты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параллельные сессии, задержка, стоимость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стресс-тестирование за пределами проектных ограничений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9440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3156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0471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48733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85893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59045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03059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40219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3371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25738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9454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6769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Тестирование отказов и неполных данных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Отказы инструментов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API недоступен, база не отвечает, сеть медленная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должен иметь fallback и честное сообщение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Противоречивые данные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несколько источников дают разные факты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должен выявить конфликт и запросить уточнение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Автоматизированное внедрение ошибок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785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искусственно портим входы, задержки, ответы инструментов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проверяем восстановление и безопасность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9440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3156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0471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48733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85893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9045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03059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40219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3371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25738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94546" y="5650992"/>
            <a:ext cx="1989734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67698" y="5788152"/>
            <a:ext cx="1843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Атаки на агентные системы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вредоносные инструкции внутри документов или веб-страниц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может принять их как команду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попытки обойти системные ограничения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требуют многоуровневых политик и тестов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Утечки данных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извлечение системных промптов, ключей, документов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нужны права доступа, маскирование и аудит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Опасные действия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может вызвать инструмент с реальными последствиями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требуются подтверждение, лимиты и откат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guard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guard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Алгоритм выбора паттерна защитных гардов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18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133" y="1078992"/>
            <a:ext cx="4237095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10.1: алгоритм выбора паттерна для реализации гардов (с. 185)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Модель «швейцарского сыра» означает несколько независимых слоёв защиты.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Паттерн «политики прежде всего» применяет правила до генерации и действий.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Каскадные и адаптивные гарды усиливаются при росте риска.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Агент-охранник может проверять действия другого агента, но сам тоже требует тестирования.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 1: агент поддержки клиентов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21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779" y="1106424"/>
            <a:ext cx="4953802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11.1: диаграмма последовательности взаимодействий (с. 212)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Задача: автоматизировать первую линию поддержки, не теряя контроль над сложными случаями.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Компоненты: классификация запроса, RAG по базе знаний, CRM/API, эскалация оператору.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Метрики: доля решённых обращений, время ответа, точность маршрутизации, удовлетворённость.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Риски: неверные обещания клиенту, утечка данных, неправильная эскалация.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 2: медицинский агент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227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172" y="1078992"/>
            <a:ext cx="3341015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11.2: диаграмма последовательности медицинской системы (с. 227)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Задача: поддержать врача и пациента, а не заменить клиническое решение.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Компоненты: сбор симптомов, медицинская база знаний, проверка противопоказаний, контроль нормативных требований.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Метрики: безопасность рекомендаций, полнота анамнеза, корректность маршрутизации, доля эскалаций врачу.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Риски: вредный совет, нарушение конфиденциальности, ложная уверенность.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 3: финансовый аналитик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24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0187" y="1078992"/>
            <a:ext cx="3394986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11.3: диаграмма последовательности финансовой системы (с. 242)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Задача: анализировать данные, выявлять тренды, оценивать риски и готовить отчёты.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Компоненты: рыночные API, новости, портфельные данные, модели риска, агент-валидатор.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Метрики: точность прогнозов, объяснимость, своевременность, соблюдение ограничений риска.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Риски: галлюцинации в числах, недооценка риска, конфликт интересов, регуляторные требования.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 4: агент-программист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25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998" y="1078992"/>
            <a:ext cx="3381364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11.4: диаграмма последовательности агента-программиста (с. 258)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Задача: автоматизировать рутинные операции разработки без потери инженерного контроля.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Компоненты: задачи GitHub/Jira, репозиторий, тесты, статический анализ, код-ревью.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Метрики: процент принятых изменений, прохождение тестов, снижение времени исправления, качество документации.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Риски: скрытые баги, нарушение архитектуры, утечка секретов, неверное понимание требований.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 5: мультиязычный переводчик с культурной адаптацией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00" cy="521208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8" name="Image 0" descr="/mnt/data/agent_assets/fig_p27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2384" y="1078992"/>
            <a:ext cx="3450591" cy="4937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9808" y="6035040"/>
            <a:ext cx="7095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Рис. 11.5: диаграмма последовательности переводческой системы (с. 272)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8183880" y="1188720"/>
            <a:ext cx="3246120" cy="3977640"/>
          </a:xfrm>
          <a:prstGeom prst="roundRect">
            <a:avLst>
              <a:gd name="adj" fmla="val 2254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2984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схему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39328" y="1627632"/>
            <a:ext cx="2935224" cy="34655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Задача: переводить смысл, тон и культурный контекст, а не только слова.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Компоненты: детектор домена, перевод, локализация идиом, проверка терминологии, редактор-валидатор.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Метрики: точность смысла, соответствие стилю, терминологическая консистентность, качество для целевой аудитории.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Риски: культурные ошибки, потеря юридически значимых формулировок, смешение терминов.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Успешная реализация: что обычно решает успех проекта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Ясный процесс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внедряется в конкретную цепочку работ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есть владелец процесса и критерии успеха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 автоматизируется хаос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Качественные знания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база знаний очищена, актуальна и версионирована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права доступа описаны до запуска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есть процедура обновления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качества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метрики и тесты запускаются регулярно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изменение модели не проходит без регрессии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ошибки возвращаются в цикл улучшения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Принятие людьми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объясняет действия и признаёт ограничения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человек сохраняет контроль над критичными решениями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Тренды развития агентного ИИ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Нейросимвольные гибриды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языковые модели + правила + графы знаний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лучше объяснимость и контроль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важно для инженерных и юридических задач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Самообучение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агенты накапливают опыт и улучшают стратегии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нужен контроль, чтобы не закреплять ошибки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Экосистемы агентов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от одиночных помощников к цифровым организациям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координация, экономика агентов, протоколы доверия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Виртуальные миры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симуляторы как безопасная среда обучения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агенты тестируются до выхода в реальный контур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Границы автономии: что нельзя отдавать агенту без контроля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Выравнивание целей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оптимизирует заданные метрики, а не «здравый смысл»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плохая метрика создаёт плохое поведение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Ответственность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должно быть понятно, кто принял решение и на каком основании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нужны логи, роли и процедуры разбора инцидентов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Доверие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прозрачность важнее имитации уверенности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агент должен уметь сказать: данных недостаточно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160520"/>
          </a:xfrm>
          <a:prstGeom prst="roundRect">
            <a:avLst>
              <a:gd name="adj" fmla="val 283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Регуляция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48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отраслевые требования меняют архитектуру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медицина, финансы, образование и транспорт требуют разных уровней контроля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human-in-loop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response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спроектировать агентную систему в организации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Выбрать задачу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повторяемая, измеримая, с понятным владельцем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 начинать с критичных автономных действий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0614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330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Описать PEAS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158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метрики, среда, действия, сенсоры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зафиксировать ограничения и недопустимые действия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Собрать данные и инструменты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7336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очистить знания, описать API, права доступа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ввести журналирование и версии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29700" y="1051560"/>
            <a:ext cx="2583180" cy="4206240"/>
          </a:xfrm>
          <a:prstGeom prst="roundRect">
            <a:avLst>
              <a:gd name="adj" fmla="val 2832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6860" y="1161288"/>
            <a:ext cx="23088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Запустить контур качества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85148" y="1490472"/>
            <a:ext cx="2272284" cy="3694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тесты, метрики, гарды, человек в цикле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регрессия при каждом изменении модели или промпта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3298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0148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3300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1880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5964" y="5650992"/>
            <a:ext cx="2528316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9116" y="5788152"/>
            <a:ext cx="23820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0175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Главные выводы лекции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1201400" y="3017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822960"/>
            <a:ext cx="1106424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05156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- это архитектура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1490472"/>
            <a:ext cx="3209544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не только большая языковая модель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обязательны память, инструменты, метаконтроль и среда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качество определяется всей системой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05156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Многоагентность - это способ масштабировать интеллект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98848" y="1490472"/>
            <a:ext cx="3209544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разделение ролей повышает управляемость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координация так же важна, как мощность отдельных агентов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эмерджентность требует мониторинга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FEE2E2"/>
          </a:solidFill>
          <a:ln w="12700">
            <a:solidFill>
              <a:srgbClr val="FEE2E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6128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 и тестирование - не приложение, а ядро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47888" y="1490472"/>
            <a:ext cx="3209544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инъекции, утечки и опасные действия являются системными рисками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гарды, метрики и аудит должны проектироваться сразу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человек в цикле остаётся ключевым элементом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5650992"/>
            <a:ext cx="163068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5788152"/>
            <a:ext cx="1484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35352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72512" y="5650992"/>
            <a:ext cx="1630680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E0F2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5664" y="5788152"/>
            <a:ext cx="1484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30624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67784" y="5650992"/>
            <a:ext cx="1630680" cy="777240"/>
          </a:xfrm>
          <a:prstGeom prst="roundRect">
            <a:avLst>
              <a:gd name="adj" fmla="val 9412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0936" y="5788152"/>
            <a:ext cx="1484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5896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5650992"/>
            <a:ext cx="163068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5788152"/>
            <a:ext cx="1484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821168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58328" y="5650992"/>
            <a:ext cx="1630680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31480" y="5788152"/>
            <a:ext cx="1484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616440" y="5907024"/>
            <a:ext cx="109728" cy="20116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53600" y="5650992"/>
            <a:ext cx="163068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26752" y="5788152"/>
            <a:ext cx="1484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61111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материалам: Р. В. Душкин, «Искусственный интеллект: современный агентный подход», 2026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5611</Words>
  <Application>Microsoft Macintosh PowerPoint</Application>
  <PresentationFormat>Широкоэкранный</PresentationFormat>
  <Paragraphs>934</Paragraphs>
  <Slides>58</Slides>
  <Notes>58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0" baseType="lpstr"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Агентные системы: современный подход</dc:title>
  <dc:subject>Агентные системы на основе учебника Р.В. Душкина</dc:subject>
  <dc:creator>OpenAI</dc:creator>
  <cp:lastModifiedBy>Kirill Svyatov</cp:lastModifiedBy>
  <cp:revision>2</cp:revision>
  <dcterms:created xsi:type="dcterms:W3CDTF">2026-05-11T06:31:22Z</dcterms:created>
  <dcterms:modified xsi:type="dcterms:W3CDTF">2026-05-15T08:38:26Z</dcterms:modified>
</cp:coreProperties>
</file>