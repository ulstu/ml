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Начните лекцию с главной идеи: мультиагентная система — это не просто набор независимых программных модулей. Как только у агентов появляются разные цели, ограниченные ресурсы, неполная информация и возможность влиять друг на друга, возникает стратегическое взаимодействие. Теория игр дает язык для описания такого взаимодействия, а алгоритмическая теория игр переводит его в инженерные модели: протоколы, правила выбора, платежи, рынки задач, механизмы доверия и алгоритмы обучения.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Поясните, что теория игр не нужна там, где есть один исполнитель и один владелец цели. Она становится центральной, когда несколько автономных компонентов решают задачи параллельно и могут мешать или помогать друг другу. Например, роботы конкурируют за коридор, сервисы за вычислительные ресурсы, агенты за контракт, а языковые агенты за право дать финальный ответ. Архитектор должен заранее задать такие правила, чтобы рациональные действия отдельных участников вели к желаемому поведению всей системы.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этом слайде зафиксируйте, что лекция не строится как экономический курс теории игр. Акцент сделан на книгах, полезных именно ИТ-специалистам: мультиагентные системы, алгоритмическая теория игр, механизмы и вычислительная сторона равновесий. Отдельно упомяните российский учебник Душкина как контекст агентного подхода: в нем многоагентные системы описываются через автономность, взаимодействие, распределенность, доверие, аукционы и переговорные протоколы.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Здесь важно показать, что теория игр начинается не с формул, а с правильного моделирования. Кто является игроком? Что он может сделать? Что он знает в момент решения? Что для него считается выигрышем? В мультиагентных системах часто ошибаются именно на этом этапе: проектируют умного агента, но не описывают структуру стимулов. В результате система работает в демонстрации, но ломается при появлении конкуренции, перегрузки или недобросовестного поведения.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Разберите матрицу как простейший способ увидеть конфликт интересов. Например, два агента выбирают один из двух каналов связи. Если оба идут в один канал, возникает перегрузка; если распределяются, система работает лучше. Нормальная форма полезна для анализа небольших стратегических ситуаций и для объяснения смысла равновесия. Но она плохо масштабируется, поэтому для больших систем нужны компактные представления, графовые игры, механизмы и симуляторы.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Поясните отличие от матрицы: в реальных системах действия редко происходят одновременно. Агент делает предложение, другой отвечает, затем первый корректирует стратегию. Расширенная форма показывает роль порядка, сигналов и наблюдаемости. Для разработчика это фактически описание протокола взаимодействия. Если в протоколе не описать, какие данные видит агент и когда он должен принимать решение, то невозможно корректно анализировать рациональное поведение и безопасность системы.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Покажите, что одна и та же система может содержать разные типы игр одновременно. Например, роботы склада кооперативны относительно общей цели склада, но конкурируют за зарядные станции и узкие проходы. Финансовые агенты могут сотрудничать внутри компании и конкурировать на внешнем рынке. Поэтому архитектура должна позволять локально применять разные модели: аукцион для задач, протокол переговоров для конфликтов, репутацию для повторных взаимодействий.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Важно подчеркнуть: равновесие не означает справедливость, эффективность или моральную правильность. Оно означает устойчивость. Если система спроектирована плохо, устойчивым может оказаться плохое поведение: все перегружают один ресурс, все скрывают информацию, все выбирают краткосрочную выгоду. Поэтому архитектор механизмов пытается сделать так, чтобы нужный системе исход был выгоден каждому агенту при данных правилах.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Объясните это через инженерную аналогию. Если каждому микросервису выгодно запрашивать максимум CPU «на всякий случай», то доминирующее поведение приведет к перерасходу ресурсов. Отдельно агент рационален, но система деградирует. Чтобы избежать этого, нужно изменить игру: ввести лимиты, плату за ресурс, мониторинг, штраф за ложные запросы или механизм репутации. Так теория игр превращается в дизайн правил платформы.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Смешанная стратегия особенно важна для безопасности. Если агент всегда проверяет один и тот же тип транзакций или патрулирует один маршрут, противник быстро адаптируется. Случайность здесь не признак слабости, а осознанный элемент протокола. Но случайность должна быть управляемой: система должна проверять, что распределение действительно соответствует политике, а не стало источником непредсказуемых отказов.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Свяжите этот слайд с агентными системами из книги Душкина: доверие и репутация становятся вычисляемыми величинами. В одноразовой сделке агент может сэкономить, нарушив обязательство. В повторяющейся системе нарушение ухудшает будущий доступ к контрактам, задачам и кооперации. Поэтому правильно спроектированная память взаимодействий меняет структуру игры и поддерживает кооперацию без постоянного центрального контроля.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реальных МАС агент редко знает намерения и ограничения других участников. Например, исполнитель может быть надежным, но перегруженным; другой — дешевым, но склонным срывать сроки; третий — атакующим. Байесовский подход позволяет работать не с ярлыками, а с вероятностями. После каждого сигнала вероятность типа обновляется, и система выбирает стратегию с учетом риска. Это особенно важно для доверия, безопасности и контрактов.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Переключите внимание с агента на среду. Если каждый агент автономен, мы не можем просто приказать ему быть «хорошим». Но мы можем спроектировать механизм, где нужное поведение становится рациональным. Для разработчика механизм — это набор правил платформы: какие сообщения принимаются, как проверяются, кто получает ресурс, как начисляется цена или штраф. Это особенно важно для распределенных сервисов, электронных рынков, облачных ресурсов и робототехнических систем.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Подчеркните, что многие ИТ-системы ломаются не из-за плохих алгоритмов, а из-за неверных стимулов. Если исполнитель получает больше задач, когда занижает оценку времени, он будет систематически занижать сроки. Если сервис получает больше ресурсов, когда заявляет высокий приоритет, все сервисы станут высокоприоритетными. Стимулосовместимость требует такого правила, при котором честная информация является рациональной стратегией.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Свяжите аукционы с практикой: агенты не обязаны централизованно получать задачи от диспетчера. Они могут конкурировать за задачи, учитывая свою загрузку, расположение, заряд батареи, компетенции и стоимость. В робототехнике это похоже на Contract Net Protocol. В облаках — на распределение вычислительных ресурсов. В энергетике — на локальные рынки мощности. Главный вопрос: какая схема торгов даст хороший результат и не будет слишком тяжелой вычислительно.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Переговоры отличаются от аукциона тем, что сделка многомерна. Агенту может быть выгодна высокая цена, но долгий срок; другому — быстрый срок, но меньшая гарантия. В ИТ-системе это превращается в протокол обмена структурированными предложениями. Для LLM-агентов возникает соблазн позволить им вести свободный диалог, но итоговые обязательства все равно должны сводиться к формальным полям контракта: кто, что, когда, по какой цене и с какой ответственностью делает.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Коалиции особенно важны там, где задача превышает возможности одного агента. Например, один дрон имеет камеру, другой — лидар, третий — большой запас энергии. Вместе они решают задачу лучше. Но сразу возникает вопрос справедливого распределения выгоды: кто внес больший вклад? Если вклад не измеряется, часть агентов будет стремиться получить выгоду без работы. Поэтому коалиционная игра требует метрик вклада и механизмов устойчивости.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один из самых инженерных понятий алгоритмической теории игр. Даже если агенты приходят к равновесию, результат может быть далек от оптимума. Цена анархии измеряет этот разрыв. В сетях это видно особенно хорошо: каждый выбирает самый быстрый маршрут, но из-за перегрузки всем становится хуже. Архитектор должен понимать, когда самоорганизация допустима, а когда нужно вмешательство механизма — цены, правила доступа или централизованный планировщик.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Консенсус часто изучается как алгоритмическая задача, но в реальной мультиагентной системе агенты могут быть стратегическими. Они могут скрывать данные, искажать оценки или задерживать сообщения. Поэтому к распределенным алгоритмам добавляется игровой слой: какие стимулы поддерживают честное участие? Как система обнаруживает вредоносные узлы? Как меняется результат при неполной связности? Здесь сходятся теория игр, распределенные системы и кибербезопасность.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Объясните, что нормальная матрица игры слишком статична для многих задач. В робототехнике и управлении среда меняется после каждого действия: робот занял коридор, батарея разрядилась, другой агент изменил маршрут. Стохастическая игра описывает именно такую динамику. Для ИТ-специалиста это означает необходимость симуляторов, журналов состояния, функций награды и алгоритмов обучения, способных работать с постоянно меняющимся поведением других агентов.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Покажите связь между теорией игр и современным обучением. MARL часто кажется чисто нейросетевой темой, но в основе остаются стратегии, выигрыши и взаимодействия. Если агент обучается против другого обучающегося агента, среда для него постоянно меняется. Поэтому сходимость, равновесия, самоигра и устойчивость становятся игровыми вопросами. В реальных системах нельзя обучать «на живом пользователе» без ограничений, нужны песочницы и безопасные политики.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Self-play сделал возможными сильные игровые агенты, но для инженерной системы важна не победа в одной игре, а устойчивость к разнообразным стратегиям. Если агент обучается только против собственной копии, он может стать очень сильным против своего стиля и слабым против необычных противников. Поэтому используют популяционное обучение, архивы старых политик и внешние тестовые сценарии. Это прямо применимо к переговорам агентов и киберзащите.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Безопасность — одна из самых наглядных областей игровой теории. Защитник не может проверять все, а атакующий ищет закономерность. Поэтому защитные политики должны учитывать стратегического противника. Это важно и для классических систем, и для LLM-агентов с инструментами: злоумышленник может пытаться заставить агента вызвать опасный API, раскрыть контекст или выполнить запрещенное действие. Система гардов и аудита должна проектироваться как игра с адаптивным атакующим.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Свяжите этот слайд с идеей повторяющихся игр. Если агент знает, что плохое поведение ухудшит будущие возможности, он чаще будет соблюдать правила. Но репутационная система сама становится объектом атаки: можно создавать фальшивых агентов, обмениваться положительными отзывами, атаковать конкурентов. Поэтому репутация должна строиться на проверяемых событиях, а не только на субъективных оценках. В сложных МАС репутация — не косметика, а часть механизма управления.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 представляйте блокчейн как универсальное решение. Он полезен, когда агентам нужно зафиксировать обязательства без полного доверия к единому центру. Но смарт-контракт может исполнить только формализуемое условие. Если качество работы оценивается сложной экспертизой, нужен внешний оракул или арбитраж. Поэтому инженер должен разделять: какие условия можно автоматизировать, какие требуют человека или отдельного валидатора, а какие вообще не стоит переносить в неизменяемый код.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вашей тематики робототехники и автономного транспорта этот слайд особенно важен. Несколько роботов или машин не просто независимо планируют траектории. Они формируют стратегическую систему: каждый выбирает маршрут, но выбор одного меняет доступность коридора, зарядной станции или перекрестка для другого. Теория игр помогает оценить, когда нужна кооперация, когда достаточно правил приоритета, а когда стоит вводить экономический механизм — например, цену за перегруженный маршрут.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энергетике особенно хорошо видно соединение физической системы и рынка. Агент может представлять батарею, солнечную станцию, потребителя или промышленную нагрузку. Его решения влияют на баланс сети. Аукционные механизмы помогают распределять мощность, но должны быть связаны с физическими ограничениями: нельзя продать энергию, которую невозможно доставить. Поэтому игровой механизм должен быть встроен в инженерную модель сети.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ИТ-специалистов этот слайд приземляет теорию игр в инфраструктуру. Если сервисы сами заявляют ресурсы, им может быть выгодно завышать потребность. Если приоритет ничего не стоит, все задачи станут критичными. Поэтому планировщик ресурсов — это не просто оптимизатор, а механизм стимулов. Он должен поощрять честные заявки, учитывать фактическое потребление и наказывать систематические искажения.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Поясните, что LLM-агенты делают теорию игр еще актуальнее. Раньше агентные протоколы были формальными, а теперь агенты могут вести диалог на естественном языке и имитировать рассуждения. Это повышает гибкость, но создает новые риски стратегической коммуникации: агент может звучать уверенно, но ошибаться; другой агент может поддаваться внушению; внешний текст может атаковать инструкцию. Поэтому нужны роли, арбитраж, проверяемые источники и формализация результатов.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практический чек-лист для архитектора. Не стоит начинать с выбора модного алгоритма. Сначала нужно описать игру: кто участвует, какие у него цели, что он видит и чем рискует. Затем нужно найти места, где агенту выгодно делать то, что вредно системе. Только после этого выбирается механизм. В конце обязательно проверяется реализация: можно ли собрать данные, вычислить решение, обнаружить обман и объяснить результат человеку.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Метрики игровой МАС шире, чем accuracy или latency. Система может быть быстрой, но несправедливой; эффективной в среднем, но уязвимой к сговору; устойчивой в лаборатории, но хрупкой при ошибочных данных. Поэтому оценка должна включать игровые свойства: стимулы к отклонению, цену анархии, распределение выгод, устойчивость к атакам и понятность решений. Это особенно важно в системах, где агенты взаимодействуют с людьми или критической инфраструктурой.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слайд нужен как защита от поверхностного применения теории. Модели теории игр очень полезны, но они являются моделями, а не реальностью. Агенты могут быть ограниченно рациональными, ошибаться, переобучаться и атаковать протокол неожиданным способом. Равновесие может быть плохим. Платежи могут быть невозможны юридически. Поэтому игровая модель должна тестироваться так же тщательно, как код: через симуляции, красные команды, стресс-тесты и анализ отказов.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Разберите кейс как сквозной пример. Роботы не должны просто получать ближайшую задачу. Ближайшая задача может вести через перегруженный коридор или оставить робота без заряда. Аукцион позволяет роботу учитывать собственную стоимость выполнения. Но если нет штрафа, робот может выигрывать задачи и срывать сроки. Если нет репутации, нарушения не имеют будущей цены. Если нет приоритета безопасности, система может оптимизировать скорость в ущерб риску. Так складывается полный механизм.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Покажите, что теория игр применима не только к роботам или рынкам. В команде LLM-агентов агенты могут иметь роли и критерии. Генератор стремится предложить решение, критик ищет ошибки, валидатор проверяет факты, арбитр принимает итог. Но если все агенты видят одинаковый ошибочный контекст, они могут согласованно ошибиться. Поэтому механизм должен стимулировать независимость, требовать проверяемые источники и давать большую власть агентам, которые действительно валидируют вывод.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Здесь сведите все к архитектуре. Игровой механизм не должен жить только в презентации или статье. Его нужно сделать частью программной платформы. Модель игры фиксируется в конфигурациях и документации. Симулятор проверяет сценарии до внедрения. Механизм реализуется как код: правила очереди, аукцион, штрафы, репутация. Исполнение должно быть транзакционным, а мониторинг — искать не только технические ошибки, но и стратегические отклонения.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Объясните, что игровые свойства надо тестировать как требования. Если аукцион должен быть бюджетно сбалансированным, это инвариант. Если репутация должна снижаться за срыв обязательств, это тестируемое правило. Но часть свойств требует симуляции: как поведет себя популяция агентов после тысяч взаимодействий? Будет ли сговор? Будет ли вытеснение слабых участников? И наконец, часть критериев не может быть полностью автоматизирована — например, справедливость и приемлемость решений.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Дайте слушателям практическую карту. Не все проблемы решаются одним механизмом. Если ресурс делимый, можно использовать цены или квоты. Если задачи неделимые, лучше подходят аукционы и назначения. Если нужно выбрать план группы, нужны голосование или арбитраж. Если отношения повторяются, важна репутация. Если среда недоверенная, нужен аудит и криптография. Если агенты обучаются, нужен контролируемый симулятор и ограничения.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Финальная часть должна показать, что игровые модели особенно важны в эпоху автономных и LLM-агентов. Пока агенты были простыми, правила можно было задать вручную. Когда агенты учатся и общаются на естественном языке, поведение становится динамичным. Система может найти неожиданные способы оптимизировать метрику. Поэтому проектирование, тестирование и эксплуатация должны включать игровые сценарии на всех этапах: от требований до мониторинга.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Завершите лекцию тезисом: любой протокол создает игру, даже если разработчики этого не планировали. Если правила не проектировать осознанно, агенты сами найдут выгодные для себя стратегии, которые могут быть вредны системе. Теория игр помогает увидеть эти стратегии заранее. Для ИТ-специалиста это не абстрактная математика, а практический инструмент проектирования надежных мультиагентных систем: от роботов и облаков до LLM-агентов и рынков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Используйте последний слайд как список для самостоятельного чтения. Первые две книги дают агентную рамку. Nisan et al. и Roughgarden дают алгоритмическую теорию игр, механизмы, аукционы и цену анархии. Osborne и Rubinstein дают строгий математический аппарат, а Essentials of Game Theory — более компактный вход. Easley и Kleinberg полезны для сетевых эффектов и платформ. Учебник Душкина помогает связать эти идеи с современными LLM-агентами, доверием, аукционами и многоагентными сценариями.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94360" y="502920"/>
            <a:ext cx="2926080" cy="228600"/>
          </a:xfrm>
          <a:prstGeom prst="rect">
            <a:avLst/>
          </a:prstGeom>
          <a:noFill/>
          <a:ln/>
        </p:spPr>
        <p:txBody>
          <a:bodyPr wrap="square" lIns="0" tIns="0" rIns="0" bIns="0" rtlCol="0" anchor="ctr"/>
          <a:lstStyle/>
          <a:p>
            <a:pPr indent="0" marL="0">
              <a:buNone/>
            </a:pPr>
            <a:r>
              <a:rPr lang="en-US" sz="1000" b="1" dirty="0">
                <a:solidFill>
                  <a:srgbClr val="93C5FD"/>
                </a:solidFill>
              </a:rPr>
              <a:t>БОЛЬШАЯ ЛЕКЦИЯ</a:t>
            </a:r>
            <a:endParaRPr lang="en-US" sz="1000" dirty="0"/>
          </a:p>
        </p:txBody>
      </p:sp>
      <p:sp>
        <p:nvSpPr>
          <p:cNvPr id="3" name="Text 1"/>
          <p:cNvSpPr/>
          <p:nvPr/>
        </p:nvSpPr>
        <p:spPr>
          <a:xfrm>
            <a:off x="594360" y="914400"/>
            <a:ext cx="6629400" cy="12344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Теория игр для мультиагентных систем</a:t>
            </a:r>
            <a:endParaRPr lang="en-US" sz="3600" dirty="0"/>
          </a:p>
        </p:txBody>
      </p:sp>
      <p:sp>
        <p:nvSpPr>
          <p:cNvPr id="4" name="Text 2"/>
          <p:cNvSpPr/>
          <p:nvPr/>
        </p:nvSpPr>
        <p:spPr>
          <a:xfrm>
            <a:off x="621792" y="2331720"/>
            <a:ext cx="6858000" cy="320040"/>
          </a:xfrm>
          <a:prstGeom prst="rect">
            <a:avLst/>
          </a:prstGeom>
          <a:noFill/>
          <a:ln/>
        </p:spPr>
        <p:txBody>
          <a:bodyPr wrap="square" lIns="0" tIns="0" rIns="0" bIns="0" rtlCol="0" anchor="ctr"/>
          <a:lstStyle/>
          <a:p>
            <a:pPr indent="0" marL="0">
              <a:buNone/>
            </a:pPr>
            <a:r>
              <a:rPr lang="en-US" sz="1700" dirty="0">
                <a:solidFill>
                  <a:srgbClr val="CBD5E1"/>
                </a:solidFill>
              </a:rPr>
              <a:t>для проектирования, анализа и тестирования мультиагентных систем</a:t>
            </a:r>
            <a:endParaRPr lang="en-US" sz="1700" dirty="0"/>
          </a:p>
        </p:txBody>
      </p:sp>
      <p:sp>
        <p:nvSpPr>
          <p:cNvPr id="5" name="Text 3"/>
          <p:cNvSpPr/>
          <p:nvPr/>
        </p:nvSpPr>
        <p:spPr>
          <a:xfrm>
            <a:off x="658368" y="3063240"/>
            <a:ext cx="6583680" cy="1417320"/>
          </a:xfrm>
          <a:prstGeom prst="rect">
            <a:avLst/>
          </a:prstGeom>
          <a:noFill/>
          <a:ln/>
        </p:spPr>
        <p:txBody>
          <a:bodyPr wrap="square" lIns="762" tIns="762" rIns="762" bIns="762" rtlCol="0" anchor="t">
            <a:normAutofit/>
          </a:bodyPr>
          <a:lstStyle/>
          <a:p>
            <a:pPr indent="0" marL="0">
              <a:lnSpc>
                <a:spcPct val="95000"/>
              </a:lnSpc>
              <a:buNone/>
            </a:pPr>
            <a:r>
              <a:rPr lang="en-US" sz="1650" dirty="0">
                <a:solidFill>
                  <a:srgbClr val="E2E8F0"/>
                </a:solidFill>
                <a:latin typeface="Aptos" pitchFamily="34" charset="0"/>
                <a:ea typeface="Aptos" pitchFamily="34" charset="-122"/>
                <a:cs typeface="Aptos" pitchFamily="34" charset="-120"/>
              </a:rPr>
              <a:t>• Почему автономные агенты почти всегда являются участниками игры</a:t>
            </a:r>
            <a:endParaRPr lang="en-US" sz="1650" dirty="0"/>
          </a:p>
          <a:p>
            <a:pPr indent="0" marL="0">
              <a:lnSpc>
                <a:spcPct val="95000"/>
              </a:lnSpc>
              <a:buNone/>
            </a:pPr>
            <a:r>
              <a:rPr lang="en-US" sz="1650" dirty="0">
                <a:solidFill>
                  <a:srgbClr val="E2E8F0"/>
                </a:solidFill>
                <a:latin typeface="Aptos" pitchFamily="34" charset="0"/>
                <a:ea typeface="Aptos" pitchFamily="34" charset="-122"/>
                <a:cs typeface="Aptos" pitchFamily="34" charset="-120"/>
              </a:rPr>
              <a:t>• Как формализовать интересы, ресурсы, правила и стратегическое поведение</a:t>
            </a:r>
            <a:endParaRPr lang="en-US" sz="1650" dirty="0"/>
          </a:p>
          <a:p>
            <a:pPr indent="0" marL="0">
              <a:lnSpc>
                <a:spcPct val="95000"/>
              </a:lnSpc>
              <a:buNone/>
            </a:pPr>
            <a:r>
              <a:rPr lang="en-US" sz="1650" dirty="0">
                <a:solidFill>
                  <a:srgbClr val="E2E8F0"/>
                </a:solidFill>
                <a:latin typeface="Aptos" pitchFamily="34" charset="0"/>
                <a:ea typeface="Aptos" pitchFamily="34" charset="-122"/>
                <a:cs typeface="Aptos" pitchFamily="34" charset="-120"/>
              </a:rPr>
              <a:t>• Как применять равновесия, аукционы, переговоры и обучение в инженерных системах</a:t>
            </a:r>
            <a:endParaRPr lang="en-US" sz="1650" dirty="0"/>
          </a:p>
        </p:txBody>
      </p:sp>
      <p:sp>
        <p:nvSpPr>
          <p:cNvPr id="6" name="Text 4"/>
          <p:cNvSpPr/>
          <p:nvPr/>
        </p:nvSpPr>
        <p:spPr>
          <a:xfrm>
            <a:off x="8001000" y="941832"/>
            <a:ext cx="3703320" cy="228600"/>
          </a:xfrm>
          <a:prstGeom prst="rect">
            <a:avLst/>
          </a:prstGeom>
          <a:noFill/>
          <a:ln/>
        </p:spPr>
        <p:txBody>
          <a:bodyPr wrap="square" lIns="0" tIns="0" rIns="0" bIns="0" rtlCol="0" anchor="ctr"/>
          <a:lstStyle/>
          <a:p>
            <a:pPr algn="ctr" indent="0" marL="0">
              <a:buNone/>
            </a:pPr>
            <a:r>
              <a:rPr lang="en-US" sz="1100" b="1" dirty="0">
                <a:solidFill>
                  <a:srgbClr val="607080"/>
                </a:solidFill>
              </a:rPr>
              <a:t>пример игры агентов</a:t>
            </a:r>
            <a:endParaRPr lang="en-US" sz="1100" dirty="0"/>
          </a:p>
        </p:txBody>
      </p:sp>
      <p:sp>
        <p:nvSpPr>
          <p:cNvPr id="7" name="Text 5"/>
          <p:cNvSpPr/>
          <p:nvPr/>
        </p:nvSpPr>
        <p:spPr>
          <a:xfrm>
            <a:off x="8001000" y="1234440"/>
            <a:ext cx="123444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endParaRPr lang="en-US" sz="900" dirty="0"/>
          </a:p>
        </p:txBody>
      </p:sp>
      <p:sp>
        <p:nvSpPr>
          <p:cNvPr id="8" name="Text 6"/>
          <p:cNvSpPr/>
          <p:nvPr/>
        </p:nvSpPr>
        <p:spPr>
          <a:xfrm>
            <a:off x="9235440" y="1234440"/>
            <a:ext cx="123444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a1</a:t>
            </a:r>
            <a:endParaRPr lang="en-US" sz="900" dirty="0"/>
          </a:p>
        </p:txBody>
      </p:sp>
      <p:sp>
        <p:nvSpPr>
          <p:cNvPr id="9" name="Text 7"/>
          <p:cNvSpPr/>
          <p:nvPr/>
        </p:nvSpPr>
        <p:spPr>
          <a:xfrm>
            <a:off x="10469880" y="1234440"/>
            <a:ext cx="123444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a2</a:t>
            </a:r>
            <a:endParaRPr lang="en-US" sz="900" dirty="0"/>
          </a:p>
        </p:txBody>
      </p:sp>
      <p:sp>
        <p:nvSpPr>
          <p:cNvPr id="10" name="Text 8"/>
          <p:cNvSpPr/>
          <p:nvPr/>
        </p:nvSpPr>
        <p:spPr>
          <a:xfrm>
            <a:off x="8001000" y="2057400"/>
            <a:ext cx="123444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a1</a:t>
            </a:r>
            <a:endParaRPr lang="en-US" sz="900" dirty="0"/>
          </a:p>
        </p:txBody>
      </p:sp>
      <p:sp>
        <p:nvSpPr>
          <p:cNvPr id="11" name="Text 9"/>
          <p:cNvSpPr/>
          <p:nvPr/>
        </p:nvSpPr>
        <p:spPr>
          <a:xfrm>
            <a:off x="9235440" y="2057400"/>
            <a:ext cx="1234440" cy="822960"/>
          </a:xfrm>
          <a:prstGeom prst="rect">
            <a:avLst/>
          </a:prstGeom>
          <a:solidFill>
            <a:srgbClr val="0F766E"/>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кооперация</a:t>
            </a:r>
            <a:endParaRPr lang="en-US" sz="1200" dirty="0"/>
          </a:p>
        </p:txBody>
      </p:sp>
      <p:sp>
        <p:nvSpPr>
          <p:cNvPr id="12" name="Text 10"/>
          <p:cNvSpPr/>
          <p:nvPr/>
        </p:nvSpPr>
        <p:spPr>
          <a:xfrm>
            <a:off x="10469880" y="2057400"/>
            <a:ext cx="1234440" cy="822960"/>
          </a:xfrm>
          <a:prstGeom prst="rect">
            <a:avLst/>
          </a:prstGeom>
          <a:solidFill>
            <a:srgbClr val="1D4ED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эксплуатация</a:t>
            </a:r>
            <a:endParaRPr lang="en-US" sz="1200" dirty="0"/>
          </a:p>
        </p:txBody>
      </p:sp>
      <p:sp>
        <p:nvSpPr>
          <p:cNvPr id="13" name="Text 11"/>
          <p:cNvSpPr/>
          <p:nvPr/>
        </p:nvSpPr>
        <p:spPr>
          <a:xfrm>
            <a:off x="8001000" y="2880360"/>
            <a:ext cx="123444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a2</a:t>
            </a:r>
            <a:endParaRPr lang="en-US" sz="900" dirty="0"/>
          </a:p>
        </p:txBody>
      </p:sp>
      <p:sp>
        <p:nvSpPr>
          <p:cNvPr id="14" name="Text 12"/>
          <p:cNvSpPr/>
          <p:nvPr/>
        </p:nvSpPr>
        <p:spPr>
          <a:xfrm>
            <a:off x="9235440" y="2880360"/>
            <a:ext cx="1234440" cy="822960"/>
          </a:xfrm>
          <a:prstGeom prst="rect">
            <a:avLst/>
          </a:prstGeom>
          <a:solidFill>
            <a:srgbClr val="1D4ED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уступка</a:t>
            </a:r>
            <a:endParaRPr lang="en-US" sz="1200" dirty="0"/>
          </a:p>
        </p:txBody>
      </p:sp>
      <p:sp>
        <p:nvSpPr>
          <p:cNvPr id="15" name="Text 13"/>
          <p:cNvSpPr/>
          <p:nvPr/>
        </p:nvSpPr>
        <p:spPr>
          <a:xfrm>
            <a:off x="10469880" y="2880360"/>
            <a:ext cx="1234440" cy="822960"/>
          </a:xfrm>
          <a:prstGeom prst="rect">
            <a:avLst/>
          </a:prstGeom>
          <a:solidFill>
            <a:srgbClr val="1E293B"/>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конфликт</a:t>
            </a:r>
            <a:endParaRPr lang="en-US" sz="1200" dirty="0"/>
          </a:p>
        </p:txBody>
      </p:sp>
      <p:sp>
        <p:nvSpPr>
          <p:cNvPr id="16" name="Text 14"/>
          <p:cNvSpPr/>
          <p:nvPr/>
        </p:nvSpPr>
        <p:spPr>
          <a:xfrm>
            <a:off x="9464040" y="4480560"/>
            <a:ext cx="868680" cy="475488"/>
          </a:xfrm>
          <a:prstGeom prst="rect">
            <a:avLst/>
          </a:prstGeom>
          <a:solidFill>
            <a:srgbClr val="102A43"/>
          </a:solidFill>
          <a:ln w="12700">
            <a:solidFill>
              <a:srgbClr val="102A43"/>
            </a:solidFill>
          </a:ln>
        </p:spPr>
        <p:txBody>
          <a:bodyPr wrap="square" lIns="254" tIns="254" rIns="254" bIns="254" rtlCol="0" anchor="ctr">
            <a:normAutofit/>
          </a:bodyPr>
          <a:lstStyle/>
          <a:p>
            <a:pPr algn="ctr" indent="0" marL="0">
              <a:buNone/>
            </a:pPr>
            <a:r>
              <a:rPr lang="en-US" sz="800" b="1" dirty="0">
                <a:solidFill>
                  <a:srgbClr val="FFFFFF"/>
                </a:solidFill>
              </a:rPr>
              <a:t>Среда</a:t>
            </a:r>
            <a:endParaRPr lang="en-US" sz="800" dirty="0"/>
          </a:p>
        </p:txBody>
      </p:sp>
      <p:sp>
        <p:nvSpPr>
          <p:cNvPr id="17" name="Text 15"/>
          <p:cNvSpPr/>
          <p:nvPr/>
        </p:nvSpPr>
        <p:spPr>
          <a:xfrm>
            <a:off x="8183880" y="5001768"/>
            <a:ext cx="868680" cy="475488"/>
          </a:xfrm>
          <a:prstGeom prst="rect">
            <a:avLst/>
          </a:prstGeom>
          <a:solidFill>
            <a:srgbClr val="246BFE"/>
          </a:solidFill>
          <a:ln w="12700">
            <a:solidFill>
              <a:srgbClr val="246BFE"/>
            </a:solidFill>
          </a:ln>
        </p:spPr>
        <p:txBody>
          <a:bodyPr wrap="square" lIns="254" tIns="254" rIns="254" bIns="254" rtlCol="0" anchor="ctr">
            <a:normAutofit/>
          </a:bodyPr>
          <a:lstStyle/>
          <a:p>
            <a:pPr algn="ctr" indent="0" marL="0">
              <a:buNone/>
            </a:pPr>
            <a:r>
              <a:rPr lang="en-US" sz="800" b="1" dirty="0">
                <a:solidFill>
                  <a:srgbClr val="FFFFFF"/>
                </a:solidFill>
              </a:rPr>
              <a:t>Агент A</a:t>
            </a:r>
            <a:endParaRPr lang="en-US" sz="800" dirty="0"/>
          </a:p>
        </p:txBody>
      </p:sp>
      <p:sp>
        <p:nvSpPr>
          <p:cNvPr id="18" name="Text 16"/>
          <p:cNvSpPr/>
          <p:nvPr/>
        </p:nvSpPr>
        <p:spPr>
          <a:xfrm>
            <a:off x="9229954" y="5074920"/>
            <a:ext cx="868680" cy="475488"/>
          </a:xfrm>
          <a:prstGeom prst="rect">
            <a:avLst/>
          </a:prstGeom>
          <a:solidFill>
            <a:srgbClr val="7048E8"/>
          </a:solidFill>
          <a:ln w="12700">
            <a:solidFill>
              <a:srgbClr val="7048E8"/>
            </a:solidFill>
          </a:ln>
        </p:spPr>
        <p:txBody>
          <a:bodyPr wrap="square" lIns="254" tIns="254" rIns="254" bIns="254" rtlCol="0" anchor="ctr">
            <a:normAutofit/>
          </a:bodyPr>
          <a:lstStyle/>
          <a:p>
            <a:pPr algn="ctr" indent="0" marL="0">
              <a:buNone/>
            </a:pPr>
            <a:r>
              <a:rPr lang="en-US" sz="800" b="1" dirty="0">
                <a:solidFill>
                  <a:srgbClr val="FFFFFF"/>
                </a:solidFill>
              </a:rPr>
              <a:t>Агент B</a:t>
            </a:r>
            <a:endParaRPr lang="en-US" sz="800" dirty="0"/>
          </a:p>
        </p:txBody>
      </p:sp>
      <p:sp>
        <p:nvSpPr>
          <p:cNvPr id="19" name="Text 17"/>
          <p:cNvSpPr/>
          <p:nvPr/>
        </p:nvSpPr>
        <p:spPr>
          <a:xfrm>
            <a:off x="10107778" y="4957877"/>
            <a:ext cx="868680" cy="475488"/>
          </a:xfrm>
          <a:prstGeom prst="rect">
            <a:avLst/>
          </a:prstGeom>
          <a:solidFill>
            <a:srgbClr val="2F9E44"/>
          </a:solidFill>
          <a:ln w="12700">
            <a:solidFill>
              <a:srgbClr val="2F9E44"/>
            </a:solidFill>
          </a:ln>
        </p:spPr>
        <p:txBody>
          <a:bodyPr wrap="square" lIns="254" tIns="254" rIns="254" bIns="254" rtlCol="0" anchor="ctr">
            <a:normAutofit/>
          </a:bodyPr>
          <a:lstStyle/>
          <a:p>
            <a:pPr algn="ctr" indent="0" marL="0">
              <a:buNone/>
            </a:pPr>
            <a:r>
              <a:rPr lang="en-US" sz="800" b="1" dirty="0">
                <a:solidFill>
                  <a:srgbClr val="FFFFFF"/>
                </a:solidFill>
              </a:rPr>
              <a:t>Агент C</a:t>
            </a:r>
            <a:endParaRPr lang="en-US" sz="800" dirty="0"/>
          </a:p>
        </p:txBody>
      </p:sp>
      <p:sp>
        <p:nvSpPr>
          <p:cNvPr id="20" name="Text 18"/>
          <p:cNvSpPr/>
          <p:nvPr/>
        </p:nvSpPr>
        <p:spPr>
          <a:xfrm>
            <a:off x="9610344" y="5586984"/>
            <a:ext cx="868680" cy="475488"/>
          </a:xfrm>
          <a:prstGeom prst="rect">
            <a:avLst/>
          </a:prstGeom>
          <a:solidFill>
            <a:srgbClr val="F59F00"/>
          </a:solidFill>
          <a:ln w="12700">
            <a:solidFill>
              <a:srgbClr val="F59F00"/>
            </a:solidFill>
          </a:ln>
        </p:spPr>
        <p:txBody>
          <a:bodyPr wrap="square" lIns="254" tIns="254" rIns="254" bIns="254" rtlCol="0" anchor="ctr">
            <a:normAutofit/>
          </a:bodyPr>
          <a:lstStyle/>
          <a:p>
            <a:pPr algn="ctr" indent="0" marL="0">
              <a:buNone/>
            </a:pPr>
            <a:r>
              <a:rPr lang="en-US" sz="800" b="1" dirty="0">
                <a:solidFill>
                  <a:srgbClr val="FFFFFF"/>
                </a:solidFill>
              </a:rPr>
              <a:t>Ресурс</a:t>
            </a:r>
            <a:endParaRPr lang="en-US" sz="800" dirty="0"/>
          </a:p>
        </p:txBody>
      </p:sp>
      <p:sp>
        <p:nvSpPr>
          <p:cNvPr id="21" name="Text 19"/>
          <p:cNvSpPr/>
          <p:nvPr/>
        </p:nvSpPr>
        <p:spPr>
          <a:xfrm>
            <a:off x="594360" y="6309360"/>
            <a:ext cx="7315200" cy="228600"/>
          </a:xfrm>
          <a:prstGeom prst="rect">
            <a:avLst/>
          </a:prstGeom>
          <a:noFill/>
          <a:ln/>
        </p:spPr>
        <p:txBody>
          <a:bodyPr wrap="square" lIns="0" tIns="0" rIns="0" bIns="0" rtlCol="0" anchor="ctr"/>
          <a:lstStyle/>
          <a:p>
            <a:pPr indent="0" marL="0">
              <a:buNone/>
            </a:pPr>
            <a:r>
              <a:rPr lang="en-US" sz="1100" dirty="0">
                <a:solidFill>
                  <a:srgbClr val="94A3B8"/>
                </a:solidFill>
              </a:rPr>
              <a:t>40 слайдов · заметки лектора встроены в презентацию</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 Мотивация и карта курса</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Зачем теория игр нужна архитектору агентной системы</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02</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Агентная система становится «игрой», когда действия одного агента меняют результат другого</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Теория игр помогает проектировать правила, при которых локально рациональное поведение не разрушает систему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Для ИТ-специалиста это язык протоколов: сообщения, ставки, контракты, доступы, штрафы, репутация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мультиагентной системе важно проектировать не только интеллект агента, но и среду стимулов</a:t>
            </a:r>
            <a:endParaRPr lang="en-US" sz="1550" dirty="0"/>
          </a:p>
        </p:txBody>
      </p:sp>
      <p:sp>
        <p:nvSpPr>
          <p:cNvPr id="7" name="Text 5"/>
          <p:cNvSpPr/>
          <p:nvPr/>
        </p:nvSpPr>
        <p:spPr>
          <a:xfrm>
            <a:off x="6812280" y="1188720"/>
            <a:ext cx="4297680" cy="201168"/>
          </a:xfrm>
          <a:prstGeom prst="rect">
            <a:avLst/>
          </a:prstGeom>
          <a:noFill/>
          <a:ln/>
        </p:spPr>
        <p:txBody>
          <a:bodyPr wrap="square" lIns="0" tIns="0" rIns="0" bIns="0" rtlCol="0" anchor="ctr"/>
          <a:lstStyle/>
          <a:p>
            <a:pPr algn="ctr" indent="0" marL="0">
              <a:buNone/>
            </a:pPr>
            <a:r>
              <a:rPr lang="en-US" sz="1100" b="1" dirty="0">
                <a:solidFill>
                  <a:srgbClr val="607080"/>
                </a:solidFill>
              </a:rPr>
              <a:t>Игра как модель взаимодействия</a:t>
            </a:r>
            <a:endParaRPr lang="en-US" sz="1100" dirty="0"/>
          </a:p>
        </p:txBody>
      </p:sp>
      <p:sp>
        <p:nvSpPr>
          <p:cNvPr id="8" name="Text 6"/>
          <p:cNvSpPr/>
          <p:nvPr/>
        </p:nvSpPr>
        <p:spPr>
          <a:xfrm>
            <a:off x="8229600" y="1508760"/>
            <a:ext cx="1463040" cy="68580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100" b="1" dirty="0">
                <a:solidFill>
                  <a:srgbClr val="1C2430"/>
                </a:solidFill>
              </a:rPr>
              <a:t>стратегии</a:t>
            </a:r>
            <a:endParaRPr lang="en-US" sz="1100" dirty="0"/>
          </a:p>
          <a:p>
            <a:pPr algn="ctr" indent="0" marL="0">
              <a:buNone/>
            </a:pPr>
            <a:r>
              <a:rPr lang="en-US" sz="1100" b="1" dirty="0">
                <a:solidFill>
                  <a:srgbClr val="1C2430"/>
                </a:solidFill>
              </a:rPr>
              <a:t>агентов</a:t>
            </a:r>
            <a:endParaRPr lang="en-US" sz="1100" dirty="0"/>
          </a:p>
        </p:txBody>
      </p:sp>
      <p:sp>
        <p:nvSpPr>
          <p:cNvPr id="9" name="Text 7"/>
          <p:cNvSpPr/>
          <p:nvPr/>
        </p:nvSpPr>
        <p:spPr>
          <a:xfrm>
            <a:off x="7040880" y="2743200"/>
            <a:ext cx="1417320" cy="685800"/>
          </a:xfrm>
          <a:prstGeom prst="rect">
            <a:avLst/>
          </a:prstGeom>
          <a:solidFill>
            <a:srgbClr val="FFF4D6"/>
          </a:solidFill>
          <a:ln w="12700">
            <a:solidFill>
              <a:srgbClr val="FFE08A"/>
            </a:solidFill>
          </a:ln>
        </p:spPr>
        <p:txBody>
          <a:bodyPr wrap="square" lIns="635" tIns="635" rIns="635" bIns="635" rtlCol="0" anchor="ctr">
            <a:normAutofit/>
          </a:bodyPr>
          <a:lstStyle/>
          <a:p>
            <a:pPr algn="ctr" indent="0" marL="0">
              <a:buNone/>
            </a:pPr>
            <a:r>
              <a:rPr lang="en-US" sz="1100" b="1" dirty="0">
                <a:solidFill>
                  <a:srgbClr val="1C2430"/>
                </a:solidFill>
              </a:rPr>
              <a:t>выигрыши</a:t>
            </a:r>
            <a:endParaRPr lang="en-US" sz="1100" dirty="0"/>
          </a:p>
          <a:p>
            <a:pPr algn="ctr" indent="0" marL="0">
              <a:buNone/>
            </a:pPr>
            <a:r>
              <a:rPr lang="en-US" sz="1100" b="1" dirty="0">
                <a:solidFill>
                  <a:srgbClr val="1C2430"/>
                </a:solidFill>
              </a:rPr>
              <a:t>и риски</a:t>
            </a:r>
            <a:endParaRPr lang="en-US" sz="1100" dirty="0"/>
          </a:p>
        </p:txBody>
      </p:sp>
      <p:sp>
        <p:nvSpPr>
          <p:cNvPr id="10" name="Text 8"/>
          <p:cNvSpPr/>
          <p:nvPr/>
        </p:nvSpPr>
        <p:spPr>
          <a:xfrm>
            <a:off x="9418320" y="2743200"/>
            <a:ext cx="1417320" cy="68580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100" b="1" dirty="0">
                <a:solidFill>
                  <a:srgbClr val="1C2430"/>
                </a:solidFill>
              </a:rPr>
              <a:t>протокол</a:t>
            </a:r>
            <a:endParaRPr lang="en-US" sz="1100" dirty="0"/>
          </a:p>
          <a:p>
            <a:pPr algn="ctr" indent="0" marL="0">
              <a:buNone/>
            </a:pPr>
            <a:r>
              <a:rPr lang="en-US" sz="1100" b="1" dirty="0">
                <a:solidFill>
                  <a:srgbClr val="1C2430"/>
                </a:solidFill>
              </a:rPr>
              <a:t>взаимодействия</a:t>
            </a:r>
            <a:endParaRPr lang="en-US" sz="1100" dirty="0"/>
          </a:p>
        </p:txBody>
      </p:sp>
      <p:sp>
        <p:nvSpPr>
          <p:cNvPr id="11" name="Shape 9"/>
          <p:cNvSpPr/>
          <p:nvPr/>
        </p:nvSpPr>
        <p:spPr>
          <a:xfrm>
            <a:off x="320040" y="6473952"/>
            <a:ext cx="11521440" cy="0"/>
          </a:xfrm>
          <a:prstGeom prst="line">
            <a:avLst/>
          </a:prstGeom>
          <a:noFill/>
          <a:ln w="7620">
            <a:solidFill>
              <a:srgbClr val="DDE3EA"/>
            </a:solidFill>
            <a:prstDash val="solid"/>
          </a:ln>
        </p:spPr>
      </p:sp>
      <p:sp>
        <p:nvSpPr>
          <p:cNvPr id="12" name="Text 10"/>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 Мотивация и карта курса</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Опорные книги и профильный контекст</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03</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Shoham, Leyton-Brown: базовая книга по мультиагентным системам с алгоритмической, игровой и логической оптикой</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Wooldridge: классический вводный курс по агентам и мультиагентным системам для информатики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Nisan, Roughgarden, Tardos, Vazirani: алгоритмическая теория игр, механизмы, аукционы, цена анархии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Roughgarden: компактный инженерный вход в алгоритмическую теорию игр</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Osborne, Rubinstein и Leyton-Brown, Shoham: формальный аппарат игр и равновесий</a:t>
            </a:r>
            <a:endParaRPr lang="en-US" sz="1550" dirty="0"/>
          </a:p>
        </p:txBody>
      </p:sp>
      <p:sp>
        <p:nvSpPr>
          <p:cNvPr id="7" name="Text 5"/>
          <p:cNvSpPr/>
          <p:nvPr/>
        </p:nvSpPr>
        <p:spPr>
          <a:xfrm>
            <a:off x="6812280" y="1600200"/>
            <a:ext cx="3931920" cy="393192"/>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модель игры</a:t>
            </a:r>
            <a:endParaRPr lang="en-US" sz="900" dirty="0"/>
          </a:p>
        </p:txBody>
      </p:sp>
      <p:sp>
        <p:nvSpPr>
          <p:cNvPr id="8" name="Text 6"/>
          <p:cNvSpPr/>
          <p:nvPr/>
        </p:nvSpPr>
        <p:spPr>
          <a:xfrm>
            <a:off x="7040880" y="2075688"/>
            <a:ext cx="3474720" cy="393192"/>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симулятор среды</a:t>
            </a:r>
            <a:endParaRPr lang="en-US" sz="900" dirty="0"/>
          </a:p>
        </p:txBody>
      </p:sp>
      <p:sp>
        <p:nvSpPr>
          <p:cNvPr id="9" name="Text 7"/>
          <p:cNvSpPr/>
          <p:nvPr/>
        </p:nvSpPr>
        <p:spPr>
          <a:xfrm>
            <a:off x="7269480" y="2551176"/>
            <a:ext cx="3017520" cy="393192"/>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поиск равновесия</a:t>
            </a:r>
            <a:endParaRPr lang="en-US" sz="900" dirty="0"/>
          </a:p>
        </p:txBody>
      </p:sp>
      <p:sp>
        <p:nvSpPr>
          <p:cNvPr id="10" name="Text 8"/>
          <p:cNvSpPr/>
          <p:nvPr/>
        </p:nvSpPr>
        <p:spPr>
          <a:xfrm>
            <a:off x="7498080" y="3026664"/>
            <a:ext cx="2560320" cy="393192"/>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протокол / API</a:t>
            </a:r>
            <a:endParaRPr lang="en-US" sz="900" dirty="0"/>
          </a:p>
        </p:txBody>
      </p:sp>
      <p:sp>
        <p:nvSpPr>
          <p:cNvPr id="11" name="Text 9"/>
          <p:cNvSpPr/>
          <p:nvPr/>
        </p:nvSpPr>
        <p:spPr>
          <a:xfrm>
            <a:off x="7726680" y="3502152"/>
            <a:ext cx="2103120" cy="393192"/>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мониторинг и аудит</a:t>
            </a:r>
            <a:endParaRPr lang="en-US" sz="9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Wooldridge; Nisan et al.; Roughgarden; Osborne &amp; Rubinstein; Leyton-Brown &amp; Shoham; Душкин</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2. Базовые модели игр</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От агента к игре: минимальная формализация</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04</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Игроки: агенты, сервисы, роботы, пользователи, атакующие, регуляторы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Действия: сообщения, маршруты, ставки, выбор партнера, распределение нагрузки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Выигрыши: полезность агента, качество сервиса, стоимость, риск, задержка, энергия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Правила: кто что видит, кто когда ходит, какие исходы допустимы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Инженерная задача: выбрать модель игры до выбора алгоритма</a:t>
            </a:r>
            <a:endParaRPr lang="en-US" sz="1550" dirty="0"/>
          </a:p>
        </p:txBody>
      </p:sp>
      <p:sp>
        <p:nvSpPr>
          <p:cNvPr id="7" name="Text 5"/>
          <p:cNvSpPr/>
          <p:nvPr/>
        </p:nvSpPr>
        <p:spPr>
          <a:xfrm>
            <a:off x="9006840" y="1554480"/>
            <a:ext cx="868680" cy="475488"/>
          </a:xfrm>
          <a:prstGeom prst="rect">
            <a:avLst/>
          </a:prstGeom>
          <a:solidFill>
            <a:srgbClr val="102A43"/>
          </a:solidFill>
          <a:ln w="12700">
            <a:solidFill>
              <a:srgbClr val="102A43"/>
            </a:solidFill>
          </a:ln>
        </p:spPr>
        <p:txBody>
          <a:bodyPr wrap="square" lIns="254" tIns="254" rIns="254" bIns="254" rtlCol="0" anchor="ctr">
            <a:normAutofit/>
          </a:bodyPr>
          <a:lstStyle/>
          <a:p>
            <a:pPr algn="ctr" indent="0" marL="0">
              <a:buNone/>
            </a:pPr>
            <a:r>
              <a:rPr lang="en-US" sz="800" b="1" dirty="0">
                <a:solidFill>
                  <a:srgbClr val="FFFFFF"/>
                </a:solidFill>
              </a:rPr>
              <a:t>Среда</a:t>
            </a:r>
            <a:endParaRPr lang="en-US" sz="800" dirty="0"/>
          </a:p>
        </p:txBody>
      </p:sp>
      <p:sp>
        <p:nvSpPr>
          <p:cNvPr id="8" name="Text 6"/>
          <p:cNvSpPr/>
          <p:nvPr/>
        </p:nvSpPr>
        <p:spPr>
          <a:xfrm>
            <a:off x="6995160" y="3145536"/>
            <a:ext cx="868680" cy="475488"/>
          </a:xfrm>
          <a:prstGeom prst="rect">
            <a:avLst/>
          </a:prstGeom>
          <a:solidFill>
            <a:srgbClr val="246BFE"/>
          </a:solidFill>
          <a:ln w="12700">
            <a:solidFill>
              <a:srgbClr val="246BFE"/>
            </a:solidFill>
          </a:ln>
        </p:spPr>
        <p:txBody>
          <a:bodyPr wrap="square" lIns="254" tIns="254" rIns="254" bIns="254" rtlCol="0" anchor="ctr">
            <a:normAutofit/>
          </a:bodyPr>
          <a:lstStyle/>
          <a:p>
            <a:pPr algn="ctr" indent="0" marL="0">
              <a:buNone/>
            </a:pPr>
            <a:r>
              <a:rPr lang="en-US" sz="800" b="1" dirty="0">
                <a:solidFill>
                  <a:srgbClr val="FFFFFF"/>
                </a:solidFill>
              </a:rPr>
              <a:t>Агент A</a:t>
            </a:r>
            <a:endParaRPr lang="en-US" sz="800" dirty="0"/>
          </a:p>
        </p:txBody>
      </p:sp>
      <p:sp>
        <p:nvSpPr>
          <p:cNvPr id="9" name="Text 7"/>
          <p:cNvSpPr/>
          <p:nvPr/>
        </p:nvSpPr>
        <p:spPr>
          <a:xfrm>
            <a:off x="8655710" y="3337560"/>
            <a:ext cx="868680" cy="475488"/>
          </a:xfrm>
          <a:prstGeom prst="rect">
            <a:avLst/>
          </a:prstGeom>
          <a:solidFill>
            <a:srgbClr val="7048E8"/>
          </a:solidFill>
          <a:ln w="12700">
            <a:solidFill>
              <a:srgbClr val="7048E8"/>
            </a:solidFill>
          </a:ln>
        </p:spPr>
        <p:txBody>
          <a:bodyPr wrap="square" lIns="254" tIns="254" rIns="254" bIns="254" rtlCol="0" anchor="ctr">
            <a:normAutofit/>
          </a:bodyPr>
          <a:lstStyle/>
          <a:p>
            <a:pPr algn="ctr" indent="0" marL="0">
              <a:buNone/>
            </a:pPr>
            <a:r>
              <a:rPr lang="en-US" sz="800" b="1" dirty="0">
                <a:solidFill>
                  <a:srgbClr val="FFFFFF"/>
                </a:solidFill>
              </a:rPr>
              <a:t>Агент B</a:t>
            </a:r>
            <a:endParaRPr lang="en-US" sz="800" dirty="0"/>
          </a:p>
        </p:txBody>
      </p:sp>
      <p:sp>
        <p:nvSpPr>
          <p:cNvPr id="10" name="Text 8"/>
          <p:cNvSpPr/>
          <p:nvPr/>
        </p:nvSpPr>
        <p:spPr>
          <a:xfrm>
            <a:off x="9972446" y="3030322"/>
            <a:ext cx="868680" cy="475488"/>
          </a:xfrm>
          <a:prstGeom prst="rect">
            <a:avLst/>
          </a:prstGeom>
          <a:solidFill>
            <a:srgbClr val="2F9E44"/>
          </a:solidFill>
          <a:ln w="12700">
            <a:solidFill>
              <a:srgbClr val="2F9E44"/>
            </a:solidFill>
          </a:ln>
        </p:spPr>
        <p:txBody>
          <a:bodyPr wrap="square" lIns="254" tIns="254" rIns="254" bIns="254" rtlCol="0" anchor="ctr">
            <a:normAutofit/>
          </a:bodyPr>
          <a:lstStyle/>
          <a:p>
            <a:pPr algn="ctr" indent="0" marL="0">
              <a:buNone/>
            </a:pPr>
            <a:r>
              <a:rPr lang="en-US" sz="800" b="1" dirty="0">
                <a:solidFill>
                  <a:srgbClr val="FFFFFF"/>
                </a:solidFill>
              </a:rPr>
              <a:t>Агент C</a:t>
            </a:r>
            <a:endParaRPr lang="en-US" sz="800" dirty="0"/>
          </a:p>
        </p:txBody>
      </p:sp>
      <p:sp>
        <p:nvSpPr>
          <p:cNvPr id="11" name="Text 9"/>
          <p:cNvSpPr/>
          <p:nvPr/>
        </p:nvSpPr>
        <p:spPr>
          <a:xfrm>
            <a:off x="9226296" y="4681728"/>
            <a:ext cx="868680" cy="475488"/>
          </a:xfrm>
          <a:prstGeom prst="rect">
            <a:avLst/>
          </a:prstGeom>
          <a:solidFill>
            <a:srgbClr val="F59F00"/>
          </a:solidFill>
          <a:ln w="12700">
            <a:solidFill>
              <a:srgbClr val="F59F00"/>
            </a:solidFill>
          </a:ln>
        </p:spPr>
        <p:txBody>
          <a:bodyPr wrap="square" lIns="254" tIns="254" rIns="254" bIns="254" rtlCol="0" anchor="ctr">
            <a:normAutofit/>
          </a:bodyPr>
          <a:lstStyle/>
          <a:p>
            <a:pPr algn="ctr" indent="0" marL="0">
              <a:buNone/>
            </a:pPr>
            <a:r>
              <a:rPr lang="en-US" sz="800" b="1" dirty="0">
                <a:solidFill>
                  <a:srgbClr val="FFFFFF"/>
                </a:solidFill>
              </a:rPr>
              <a:t>Ресурс</a:t>
            </a:r>
            <a:endParaRPr lang="en-US" sz="8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2. Базовые модели игр</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Нормальная форма: когда все выбирают одновременно</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05</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Нормальная форма задает множество игроков, их стратегии и матрицу выигрышей</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Подходит для выбора маршрута, распределения ресурса, конкуренции сервисов, выбора цены или ставки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матрице видны конфликты: индивидуально выгодное действие может ухудшать общий результат</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Для ИТ-задач важно заменить абстрактный «выигрыш» измеримыми метриками: latency, throughput, cost, SLA</a:t>
            </a:r>
            <a:endParaRPr lang="en-US" sz="1550" dirty="0"/>
          </a:p>
        </p:txBody>
      </p:sp>
      <p:sp>
        <p:nvSpPr>
          <p:cNvPr id="7" name="Text 5"/>
          <p:cNvSpPr/>
          <p:nvPr/>
        </p:nvSpPr>
        <p:spPr>
          <a:xfrm>
            <a:off x="6812280" y="1444752"/>
            <a:ext cx="4251960" cy="228600"/>
          </a:xfrm>
          <a:prstGeom prst="rect">
            <a:avLst/>
          </a:prstGeom>
          <a:noFill/>
          <a:ln/>
        </p:spPr>
        <p:txBody>
          <a:bodyPr wrap="square" lIns="0" tIns="0" rIns="0" bIns="0" rtlCol="0" anchor="ctr"/>
          <a:lstStyle/>
          <a:p>
            <a:pPr algn="ctr" indent="0" marL="0">
              <a:buNone/>
            </a:pPr>
            <a:r>
              <a:rPr lang="en-US" sz="1100" b="1" dirty="0">
                <a:solidFill>
                  <a:srgbClr val="607080"/>
                </a:solidFill>
              </a:rPr>
              <a:t>Нормальная форма</a:t>
            </a:r>
            <a:endParaRPr lang="en-US" sz="1100" dirty="0"/>
          </a:p>
        </p:txBody>
      </p:sp>
      <p:sp>
        <p:nvSpPr>
          <p:cNvPr id="8" name="Text 6"/>
          <p:cNvSpPr/>
          <p:nvPr/>
        </p:nvSpPr>
        <p:spPr>
          <a:xfrm>
            <a:off x="6812280" y="173736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endParaRPr lang="en-US" sz="900" dirty="0"/>
          </a:p>
        </p:txBody>
      </p:sp>
      <p:sp>
        <p:nvSpPr>
          <p:cNvPr id="9" name="Text 7"/>
          <p:cNvSpPr/>
          <p:nvPr/>
        </p:nvSpPr>
        <p:spPr>
          <a:xfrm>
            <a:off x="8229600" y="173736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a1</a:t>
            </a:r>
            <a:endParaRPr lang="en-US" sz="900" dirty="0"/>
          </a:p>
        </p:txBody>
      </p:sp>
      <p:sp>
        <p:nvSpPr>
          <p:cNvPr id="10" name="Text 8"/>
          <p:cNvSpPr/>
          <p:nvPr/>
        </p:nvSpPr>
        <p:spPr>
          <a:xfrm>
            <a:off x="9646920" y="173736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a2</a:t>
            </a:r>
            <a:endParaRPr lang="en-US" sz="900" dirty="0"/>
          </a:p>
        </p:txBody>
      </p:sp>
      <p:sp>
        <p:nvSpPr>
          <p:cNvPr id="11" name="Text 9"/>
          <p:cNvSpPr/>
          <p:nvPr/>
        </p:nvSpPr>
        <p:spPr>
          <a:xfrm>
            <a:off x="6812280" y="256032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a1</a:t>
            </a:r>
            <a:endParaRPr lang="en-US" sz="900" dirty="0"/>
          </a:p>
        </p:txBody>
      </p:sp>
      <p:sp>
        <p:nvSpPr>
          <p:cNvPr id="12" name="Text 10"/>
          <p:cNvSpPr/>
          <p:nvPr/>
        </p:nvSpPr>
        <p:spPr>
          <a:xfrm>
            <a:off x="8229600" y="2560320"/>
            <a:ext cx="1417320" cy="82296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3,3</a:t>
            </a:r>
            <a:endParaRPr lang="en-US" sz="1200" dirty="0"/>
          </a:p>
        </p:txBody>
      </p:sp>
      <p:sp>
        <p:nvSpPr>
          <p:cNvPr id="13" name="Text 11"/>
          <p:cNvSpPr/>
          <p:nvPr/>
        </p:nvSpPr>
        <p:spPr>
          <a:xfrm>
            <a:off x="9646920" y="2560320"/>
            <a:ext cx="1417320" cy="82296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0,4</a:t>
            </a:r>
            <a:endParaRPr lang="en-US" sz="1200" dirty="0"/>
          </a:p>
        </p:txBody>
      </p:sp>
      <p:sp>
        <p:nvSpPr>
          <p:cNvPr id="14" name="Text 12"/>
          <p:cNvSpPr/>
          <p:nvPr/>
        </p:nvSpPr>
        <p:spPr>
          <a:xfrm>
            <a:off x="6812280" y="338328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a2</a:t>
            </a:r>
            <a:endParaRPr lang="en-US" sz="900" dirty="0"/>
          </a:p>
        </p:txBody>
      </p:sp>
      <p:sp>
        <p:nvSpPr>
          <p:cNvPr id="15" name="Text 13"/>
          <p:cNvSpPr/>
          <p:nvPr/>
        </p:nvSpPr>
        <p:spPr>
          <a:xfrm>
            <a:off x="8229600" y="3383280"/>
            <a:ext cx="1417320" cy="82296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4,0</a:t>
            </a:r>
            <a:endParaRPr lang="en-US" sz="1200" dirty="0"/>
          </a:p>
        </p:txBody>
      </p:sp>
      <p:sp>
        <p:nvSpPr>
          <p:cNvPr id="16" name="Text 14"/>
          <p:cNvSpPr/>
          <p:nvPr/>
        </p:nvSpPr>
        <p:spPr>
          <a:xfrm>
            <a:off x="9646920" y="3383280"/>
            <a:ext cx="1417320" cy="822960"/>
          </a:xfrm>
          <a:prstGeom prst="rect">
            <a:avLst/>
          </a:prstGeom>
          <a:solidFill>
            <a:srgbClr val="E7F0F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1,1</a:t>
            </a:r>
            <a:endParaRPr lang="en-US" sz="1200" dirty="0"/>
          </a:p>
        </p:txBody>
      </p:sp>
      <p:sp>
        <p:nvSpPr>
          <p:cNvPr id="17" name="Shape 15"/>
          <p:cNvSpPr/>
          <p:nvPr/>
        </p:nvSpPr>
        <p:spPr>
          <a:xfrm>
            <a:off x="320040" y="6473952"/>
            <a:ext cx="11521440" cy="0"/>
          </a:xfrm>
          <a:prstGeom prst="line">
            <a:avLst/>
          </a:prstGeom>
          <a:noFill/>
          <a:ln w="7620">
            <a:solidFill>
              <a:srgbClr val="DDE3EA"/>
            </a:solidFill>
            <a:prstDash val="solid"/>
          </a:ln>
        </p:spPr>
      </p:sp>
      <p:sp>
        <p:nvSpPr>
          <p:cNvPr id="18" name="Text 16"/>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2. Базовые модели игр</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Расширенная форма: когда важен порядок ходов</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06</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Расширенная форма описывает дерево решений: кто ходит, что наблюдает, какие последствия получает</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Критична для переговоров, контрактов, протоколов безопасности, пошагового планирования и роботов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Информация может быть полной или неполной: агент не всегда знает, что произошло до его хода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архитектуре MAS это соответствует протоколу: состояние → сообщение → ответ → обязательство</a:t>
            </a:r>
            <a:endParaRPr lang="en-US" sz="1550" dirty="0"/>
          </a:p>
        </p:txBody>
      </p:sp>
      <p:sp>
        <p:nvSpPr>
          <p:cNvPr id="7" name="Shape 5"/>
          <p:cNvSpPr/>
          <p:nvPr/>
        </p:nvSpPr>
        <p:spPr>
          <a:xfrm>
            <a:off x="8823960" y="1737360"/>
            <a:ext cx="228600" cy="228600"/>
          </a:xfrm>
          <a:prstGeom prst="ellipse">
            <a:avLst/>
          </a:prstGeom>
          <a:solidFill>
            <a:srgbClr val="246BFE"/>
          </a:solidFill>
          <a:ln w="12700">
            <a:solidFill>
              <a:srgbClr val="FFFFFF"/>
            </a:solidFill>
            <a:prstDash val="solid"/>
          </a:ln>
        </p:spPr>
      </p:sp>
      <p:sp>
        <p:nvSpPr>
          <p:cNvPr id="8" name="Shape 6"/>
          <p:cNvSpPr/>
          <p:nvPr/>
        </p:nvSpPr>
        <p:spPr>
          <a:xfrm>
            <a:off x="7726680" y="2651760"/>
            <a:ext cx="228600" cy="228600"/>
          </a:xfrm>
          <a:prstGeom prst="ellipse">
            <a:avLst/>
          </a:prstGeom>
          <a:solidFill>
            <a:srgbClr val="7048E8"/>
          </a:solidFill>
          <a:ln w="12700">
            <a:solidFill>
              <a:srgbClr val="FFFFFF"/>
            </a:solidFill>
            <a:prstDash val="solid"/>
          </a:ln>
        </p:spPr>
      </p:sp>
      <p:sp>
        <p:nvSpPr>
          <p:cNvPr id="9" name="Shape 7"/>
          <p:cNvSpPr/>
          <p:nvPr/>
        </p:nvSpPr>
        <p:spPr>
          <a:xfrm>
            <a:off x="9921240" y="2651760"/>
            <a:ext cx="228600" cy="228600"/>
          </a:xfrm>
          <a:prstGeom prst="ellipse">
            <a:avLst/>
          </a:prstGeom>
          <a:solidFill>
            <a:srgbClr val="7048E8"/>
          </a:solidFill>
          <a:ln w="12700">
            <a:solidFill>
              <a:srgbClr val="FFFFFF"/>
            </a:solidFill>
            <a:prstDash val="solid"/>
          </a:ln>
        </p:spPr>
      </p:sp>
      <p:sp>
        <p:nvSpPr>
          <p:cNvPr id="10" name="Shape 8"/>
          <p:cNvSpPr/>
          <p:nvPr/>
        </p:nvSpPr>
        <p:spPr>
          <a:xfrm>
            <a:off x="7132320" y="3566160"/>
            <a:ext cx="228600" cy="228600"/>
          </a:xfrm>
          <a:prstGeom prst="ellipse">
            <a:avLst/>
          </a:prstGeom>
          <a:solidFill>
            <a:srgbClr val="2F9E44"/>
          </a:solidFill>
          <a:ln w="12700">
            <a:solidFill>
              <a:srgbClr val="FFFFFF"/>
            </a:solidFill>
            <a:prstDash val="solid"/>
          </a:ln>
        </p:spPr>
      </p:sp>
      <p:sp>
        <p:nvSpPr>
          <p:cNvPr id="11" name="Shape 9"/>
          <p:cNvSpPr/>
          <p:nvPr/>
        </p:nvSpPr>
        <p:spPr>
          <a:xfrm>
            <a:off x="8321040" y="3566160"/>
            <a:ext cx="228600" cy="228600"/>
          </a:xfrm>
          <a:prstGeom prst="ellipse">
            <a:avLst/>
          </a:prstGeom>
          <a:solidFill>
            <a:srgbClr val="2F9E44"/>
          </a:solidFill>
          <a:ln w="12700">
            <a:solidFill>
              <a:srgbClr val="FFFFFF"/>
            </a:solidFill>
            <a:prstDash val="solid"/>
          </a:ln>
        </p:spPr>
      </p:sp>
      <p:sp>
        <p:nvSpPr>
          <p:cNvPr id="12" name="Shape 10"/>
          <p:cNvSpPr/>
          <p:nvPr/>
        </p:nvSpPr>
        <p:spPr>
          <a:xfrm>
            <a:off x="9326880" y="3566160"/>
            <a:ext cx="228600" cy="228600"/>
          </a:xfrm>
          <a:prstGeom prst="ellipse">
            <a:avLst/>
          </a:prstGeom>
          <a:solidFill>
            <a:srgbClr val="2F9E44"/>
          </a:solidFill>
          <a:ln w="12700">
            <a:solidFill>
              <a:srgbClr val="FFFFFF"/>
            </a:solidFill>
            <a:prstDash val="solid"/>
          </a:ln>
        </p:spPr>
      </p:sp>
      <p:sp>
        <p:nvSpPr>
          <p:cNvPr id="13" name="Shape 11"/>
          <p:cNvSpPr/>
          <p:nvPr/>
        </p:nvSpPr>
        <p:spPr>
          <a:xfrm>
            <a:off x="10515600" y="3566160"/>
            <a:ext cx="228600" cy="228600"/>
          </a:xfrm>
          <a:prstGeom prst="ellipse">
            <a:avLst/>
          </a:prstGeom>
          <a:solidFill>
            <a:srgbClr val="2F9E44"/>
          </a:solidFill>
          <a:ln w="12700">
            <a:solidFill>
              <a:srgbClr val="FFFFFF"/>
            </a:solidFill>
            <a:prstDash val="solid"/>
          </a:ln>
        </p:spPr>
      </p:sp>
      <p:sp>
        <p:nvSpPr>
          <p:cNvPr id="14" name="Text 12"/>
          <p:cNvSpPr/>
          <p:nvPr/>
        </p:nvSpPr>
        <p:spPr>
          <a:xfrm>
            <a:off x="8412480" y="1508760"/>
            <a:ext cx="914400" cy="182880"/>
          </a:xfrm>
          <a:prstGeom prst="rect">
            <a:avLst/>
          </a:prstGeom>
          <a:noFill/>
          <a:ln/>
        </p:spPr>
        <p:txBody>
          <a:bodyPr wrap="square" lIns="0" tIns="0" rIns="0" bIns="0" rtlCol="0" anchor="ctr"/>
          <a:lstStyle/>
          <a:p>
            <a:pPr algn="ctr" indent="0" marL="0">
              <a:buNone/>
            </a:pPr>
            <a:r>
              <a:rPr lang="en-US" sz="900" dirty="0">
                <a:solidFill>
                  <a:srgbClr val="607080"/>
                </a:solidFill>
              </a:rPr>
              <a:t>ход A</a:t>
            </a:r>
            <a:endParaRPr lang="en-US" sz="900" dirty="0"/>
          </a:p>
        </p:txBody>
      </p:sp>
      <p:sp>
        <p:nvSpPr>
          <p:cNvPr id="15" name="Text 13"/>
          <p:cNvSpPr/>
          <p:nvPr/>
        </p:nvSpPr>
        <p:spPr>
          <a:xfrm>
            <a:off x="7360920" y="2944368"/>
            <a:ext cx="3474720" cy="182880"/>
          </a:xfrm>
          <a:prstGeom prst="rect">
            <a:avLst/>
          </a:prstGeom>
          <a:noFill/>
          <a:ln/>
        </p:spPr>
        <p:txBody>
          <a:bodyPr wrap="square" lIns="0" tIns="0" rIns="0" bIns="0" rtlCol="0" anchor="ctr"/>
          <a:lstStyle/>
          <a:p>
            <a:pPr algn="ctr" indent="0" marL="0">
              <a:buNone/>
            </a:pPr>
            <a:r>
              <a:rPr lang="en-US" sz="900" dirty="0">
                <a:solidFill>
                  <a:srgbClr val="607080"/>
                </a:solidFill>
              </a:rPr>
              <a:t>ход B после наблюдения/сигнала</a:t>
            </a:r>
            <a:endParaRPr lang="en-US" sz="900" dirty="0"/>
          </a:p>
        </p:txBody>
      </p:sp>
      <p:sp>
        <p:nvSpPr>
          <p:cNvPr id="16" name="Text 14"/>
          <p:cNvSpPr/>
          <p:nvPr/>
        </p:nvSpPr>
        <p:spPr>
          <a:xfrm>
            <a:off x="7223760" y="3886200"/>
            <a:ext cx="3566160" cy="228600"/>
          </a:xfrm>
          <a:prstGeom prst="rect">
            <a:avLst/>
          </a:prstGeom>
          <a:noFill/>
          <a:ln/>
        </p:spPr>
        <p:txBody>
          <a:bodyPr wrap="square" lIns="0" tIns="0" rIns="0" bIns="0" rtlCol="0" anchor="ctr"/>
          <a:lstStyle/>
          <a:p>
            <a:pPr algn="ctr" indent="0" marL="0">
              <a:buNone/>
            </a:pPr>
            <a:r>
              <a:rPr lang="en-US" sz="1000" b="1" dirty="0">
                <a:solidFill>
                  <a:srgbClr val="1C2430"/>
                </a:solidFill>
              </a:rPr>
              <a:t>выигрыши: (uA,uB)</a:t>
            </a:r>
            <a:endParaRPr lang="en-US" sz="1000" dirty="0"/>
          </a:p>
        </p:txBody>
      </p:sp>
      <p:sp>
        <p:nvSpPr>
          <p:cNvPr id="17" name="Shape 15"/>
          <p:cNvSpPr/>
          <p:nvPr/>
        </p:nvSpPr>
        <p:spPr>
          <a:xfrm>
            <a:off x="320040" y="6473952"/>
            <a:ext cx="11521440" cy="0"/>
          </a:xfrm>
          <a:prstGeom prst="line">
            <a:avLst/>
          </a:prstGeom>
          <a:noFill/>
          <a:ln w="7620">
            <a:solidFill>
              <a:srgbClr val="DDE3EA"/>
            </a:solidFill>
            <a:prstDash val="solid"/>
          </a:ln>
        </p:spPr>
      </p:sp>
      <p:sp>
        <p:nvSpPr>
          <p:cNvPr id="18" name="Text 16"/>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2. Базовые модели игр</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Типы игр в мультиагентных системах</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07</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Кооперативные: агенты имеют общую цель и распределяют роли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Конкурентные: агенты преследуют конфликтующие интересы или спорят за ресурс</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Смешанные: в одной подсистеме агенты сотрудничают, в другой конкурируют</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Повторяющиеся: репутация и история меняют текущие стимулы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Стохастические: состояние среды меняется под влиянием действий и случайности</a:t>
            </a:r>
            <a:endParaRPr lang="en-US" sz="1550" dirty="0"/>
          </a:p>
        </p:txBody>
      </p:sp>
      <p:sp>
        <p:nvSpPr>
          <p:cNvPr id="7" name="Text 5"/>
          <p:cNvSpPr/>
          <p:nvPr/>
        </p:nvSpPr>
        <p:spPr>
          <a:xfrm>
            <a:off x="6812280" y="1188720"/>
            <a:ext cx="4297680" cy="201168"/>
          </a:xfrm>
          <a:prstGeom prst="rect">
            <a:avLst/>
          </a:prstGeom>
          <a:noFill/>
          <a:ln/>
        </p:spPr>
        <p:txBody>
          <a:bodyPr wrap="square" lIns="0" tIns="0" rIns="0" bIns="0" rtlCol="0" anchor="ctr"/>
          <a:lstStyle/>
          <a:p>
            <a:pPr algn="ctr" indent="0" marL="0">
              <a:buNone/>
            </a:pPr>
            <a:r>
              <a:rPr lang="en-US" sz="1100" b="1" dirty="0">
                <a:solidFill>
                  <a:srgbClr val="607080"/>
                </a:solidFill>
              </a:rPr>
              <a:t>Игра как модель взаимодействия</a:t>
            </a:r>
            <a:endParaRPr lang="en-US" sz="1100" dirty="0"/>
          </a:p>
        </p:txBody>
      </p:sp>
      <p:sp>
        <p:nvSpPr>
          <p:cNvPr id="8" name="Text 6"/>
          <p:cNvSpPr/>
          <p:nvPr/>
        </p:nvSpPr>
        <p:spPr>
          <a:xfrm>
            <a:off x="8229600" y="1508760"/>
            <a:ext cx="1463040" cy="68580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100" b="1" dirty="0">
                <a:solidFill>
                  <a:srgbClr val="1C2430"/>
                </a:solidFill>
              </a:rPr>
              <a:t>стратегии</a:t>
            </a:r>
            <a:endParaRPr lang="en-US" sz="1100" dirty="0"/>
          </a:p>
          <a:p>
            <a:pPr algn="ctr" indent="0" marL="0">
              <a:buNone/>
            </a:pPr>
            <a:r>
              <a:rPr lang="en-US" sz="1100" b="1" dirty="0">
                <a:solidFill>
                  <a:srgbClr val="1C2430"/>
                </a:solidFill>
              </a:rPr>
              <a:t>агентов</a:t>
            </a:r>
            <a:endParaRPr lang="en-US" sz="1100" dirty="0"/>
          </a:p>
        </p:txBody>
      </p:sp>
      <p:sp>
        <p:nvSpPr>
          <p:cNvPr id="9" name="Text 7"/>
          <p:cNvSpPr/>
          <p:nvPr/>
        </p:nvSpPr>
        <p:spPr>
          <a:xfrm>
            <a:off x="7040880" y="2743200"/>
            <a:ext cx="1417320" cy="685800"/>
          </a:xfrm>
          <a:prstGeom prst="rect">
            <a:avLst/>
          </a:prstGeom>
          <a:solidFill>
            <a:srgbClr val="FFF4D6"/>
          </a:solidFill>
          <a:ln w="12700">
            <a:solidFill>
              <a:srgbClr val="FFE08A"/>
            </a:solidFill>
          </a:ln>
        </p:spPr>
        <p:txBody>
          <a:bodyPr wrap="square" lIns="635" tIns="635" rIns="635" bIns="635" rtlCol="0" anchor="ctr">
            <a:normAutofit/>
          </a:bodyPr>
          <a:lstStyle/>
          <a:p>
            <a:pPr algn="ctr" indent="0" marL="0">
              <a:buNone/>
            </a:pPr>
            <a:r>
              <a:rPr lang="en-US" sz="1100" b="1" dirty="0">
                <a:solidFill>
                  <a:srgbClr val="1C2430"/>
                </a:solidFill>
              </a:rPr>
              <a:t>выигрыши</a:t>
            </a:r>
            <a:endParaRPr lang="en-US" sz="1100" dirty="0"/>
          </a:p>
          <a:p>
            <a:pPr algn="ctr" indent="0" marL="0">
              <a:buNone/>
            </a:pPr>
            <a:r>
              <a:rPr lang="en-US" sz="1100" b="1" dirty="0">
                <a:solidFill>
                  <a:srgbClr val="1C2430"/>
                </a:solidFill>
              </a:rPr>
              <a:t>и риски</a:t>
            </a:r>
            <a:endParaRPr lang="en-US" sz="1100" dirty="0"/>
          </a:p>
        </p:txBody>
      </p:sp>
      <p:sp>
        <p:nvSpPr>
          <p:cNvPr id="10" name="Text 8"/>
          <p:cNvSpPr/>
          <p:nvPr/>
        </p:nvSpPr>
        <p:spPr>
          <a:xfrm>
            <a:off x="9418320" y="2743200"/>
            <a:ext cx="1417320" cy="68580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100" b="1" dirty="0">
                <a:solidFill>
                  <a:srgbClr val="1C2430"/>
                </a:solidFill>
              </a:rPr>
              <a:t>протокол</a:t>
            </a:r>
            <a:endParaRPr lang="en-US" sz="1100" dirty="0"/>
          </a:p>
          <a:p>
            <a:pPr algn="ctr" indent="0" marL="0">
              <a:buNone/>
            </a:pPr>
            <a:r>
              <a:rPr lang="en-US" sz="1100" b="1" dirty="0">
                <a:solidFill>
                  <a:srgbClr val="1C2430"/>
                </a:solidFill>
              </a:rPr>
              <a:t>взаимодействия</a:t>
            </a:r>
            <a:endParaRPr lang="en-US" sz="1100" dirty="0"/>
          </a:p>
        </p:txBody>
      </p:sp>
      <p:sp>
        <p:nvSpPr>
          <p:cNvPr id="11" name="Shape 9"/>
          <p:cNvSpPr/>
          <p:nvPr/>
        </p:nvSpPr>
        <p:spPr>
          <a:xfrm>
            <a:off x="320040" y="6473952"/>
            <a:ext cx="11521440" cy="0"/>
          </a:xfrm>
          <a:prstGeom prst="line">
            <a:avLst/>
          </a:prstGeom>
          <a:noFill/>
          <a:ln w="7620">
            <a:solidFill>
              <a:srgbClr val="DDE3EA"/>
            </a:solidFill>
            <a:prstDash val="solid"/>
          </a:ln>
        </p:spPr>
      </p:sp>
      <p:sp>
        <p:nvSpPr>
          <p:cNvPr id="12" name="Text 10"/>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3. Равновесия и рациональность</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Равновесие Нэша: стабильность стратегий</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08</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Равновесие Нэша: ни один агент не выигрывает от одностороннего изменения стратегии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Это не обязательно лучший коллективный исход, а устойчивое состояние ожиданий</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Для MAS равновесие отвечает на вопрос: «что будет, если агенты рационально адаптируются?»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Инженерный вывод: правила системы должны делать желаемое поведение равновесным</a:t>
            </a:r>
            <a:endParaRPr lang="en-US" sz="1550" dirty="0"/>
          </a:p>
        </p:txBody>
      </p:sp>
      <p:sp>
        <p:nvSpPr>
          <p:cNvPr id="7" name="Text 5"/>
          <p:cNvSpPr/>
          <p:nvPr/>
        </p:nvSpPr>
        <p:spPr>
          <a:xfrm>
            <a:off x="6812280" y="1645920"/>
            <a:ext cx="4297680" cy="228600"/>
          </a:xfrm>
          <a:prstGeom prst="rect">
            <a:avLst/>
          </a:prstGeom>
          <a:noFill/>
          <a:ln/>
        </p:spPr>
        <p:txBody>
          <a:bodyPr wrap="square" lIns="0" tIns="0" rIns="0" bIns="0" rtlCol="0" anchor="ctr"/>
          <a:lstStyle/>
          <a:p>
            <a:pPr algn="ctr" indent="0" marL="0">
              <a:buNone/>
            </a:pPr>
            <a:r>
              <a:rPr lang="en-US" sz="1100" b="1" dirty="0">
                <a:solidFill>
                  <a:srgbClr val="607080"/>
                </a:solidFill>
              </a:rPr>
              <a:t>Лучшие ответы и устойчивость</a:t>
            </a:r>
            <a:endParaRPr lang="en-US" sz="1100" dirty="0"/>
          </a:p>
        </p:txBody>
      </p:sp>
      <p:sp>
        <p:nvSpPr>
          <p:cNvPr id="8" name="Text 6"/>
          <p:cNvSpPr/>
          <p:nvPr/>
        </p:nvSpPr>
        <p:spPr>
          <a:xfrm>
            <a:off x="7040880" y="2240280"/>
            <a:ext cx="1417320" cy="658368"/>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000" b="1" dirty="0">
                <a:solidFill>
                  <a:srgbClr val="1C2430"/>
                </a:solidFill>
              </a:rPr>
              <a:t>стратегия A</a:t>
            </a:r>
            <a:endParaRPr lang="en-US" sz="1000" dirty="0"/>
          </a:p>
          <a:p>
            <a:pPr algn="ctr" indent="0" marL="0">
              <a:buNone/>
            </a:pPr>
            <a:r>
              <a:rPr lang="en-US" sz="1000" b="1" dirty="0">
                <a:solidFill>
                  <a:srgbClr val="1C2430"/>
                </a:solidFill>
              </a:rPr>
              <a:t>лучший ответ на B</a:t>
            </a:r>
            <a:endParaRPr lang="en-US" sz="1000" dirty="0"/>
          </a:p>
        </p:txBody>
      </p:sp>
      <p:sp>
        <p:nvSpPr>
          <p:cNvPr id="9" name="Text 7"/>
          <p:cNvSpPr/>
          <p:nvPr/>
        </p:nvSpPr>
        <p:spPr>
          <a:xfrm>
            <a:off x="9464040" y="2240280"/>
            <a:ext cx="1417320" cy="658368"/>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000" b="1" dirty="0">
                <a:solidFill>
                  <a:srgbClr val="1C2430"/>
                </a:solidFill>
              </a:rPr>
              <a:t>стратегия B</a:t>
            </a:r>
            <a:endParaRPr lang="en-US" sz="1000" dirty="0"/>
          </a:p>
          <a:p>
            <a:pPr algn="ctr" indent="0" marL="0">
              <a:buNone/>
            </a:pPr>
            <a:r>
              <a:rPr lang="en-US" sz="1000" b="1" dirty="0">
                <a:solidFill>
                  <a:srgbClr val="1C2430"/>
                </a:solidFill>
              </a:rPr>
              <a:t>лучший ответ на A</a:t>
            </a:r>
            <a:endParaRPr lang="en-US" sz="1000" dirty="0"/>
          </a:p>
        </p:txBody>
      </p:sp>
      <p:sp>
        <p:nvSpPr>
          <p:cNvPr id="10" name="Text 8"/>
          <p:cNvSpPr/>
          <p:nvPr/>
        </p:nvSpPr>
        <p:spPr>
          <a:xfrm>
            <a:off x="8595360" y="2377440"/>
            <a:ext cx="274320" cy="228600"/>
          </a:xfrm>
          <a:prstGeom prst="rect">
            <a:avLst/>
          </a:prstGeom>
          <a:noFill/>
          <a:ln/>
        </p:spPr>
        <p:txBody>
          <a:bodyPr wrap="square" lIns="0" tIns="0" rIns="0" bIns="0" rtlCol="0" anchor="ctr"/>
          <a:lstStyle/>
          <a:p>
            <a:pPr algn="ctr" indent="0" marL="0">
              <a:buNone/>
            </a:pPr>
            <a:r>
              <a:rPr lang="en-US" sz="1600" b="1" dirty="0">
                <a:solidFill>
                  <a:srgbClr val="607080"/>
                </a:solidFill>
              </a:rPr>
              <a:t>↘</a:t>
            </a:r>
            <a:endParaRPr lang="en-US" sz="1600" dirty="0"/>
          </a:p>
        </p:txBody>
      </p:sp>
      <p:sp>
        <p:nvSpPr>
          <p:cNvPr id="11" name="Text 9"/>
          <p:cNvSpPr/>
          <p:nvPr/>
        </p:nvSpPr>
        <p:spPr>
          <a:xfrm>
            <a:off x="9052560" y="2377440"/>
            <a:ext cx="274320" cy="228600"/>
          </a:xfrm>
          <a:prstGeom prst="rect">
            <a:avLst/>
          </a:prstGeom>
          <a:noFill/>
          <a:ln/>
        </p:spPr>
        <p:txBody>
          <a:bodyPr wrap="square" lIns="0" tIns="0" rIns="0" bIns="0" rtlCol="0" anchor="ctr"/>
          <a:lstStyle/>
          <a:p>
            <a:pPr algn="ctr" indent="0" marL="0">
              <a:buNone/>
            </a:pPr>
            <a:r>
              <a:rPr lang="en-US" sz="1600" b="1" dirty="0">
                <a:solidFill>
                  <a:srgbClr val="607080"/>
                </a:solidFill>
              </a:rPr>
              <a:t>↙</a:t>
            </a:r>
            <a:endParaRPr lang="en-US" sz="1600" dirty="0"/>
          </a:p>
        </p:txBody>
      </p:sp>
      <p:sp>
        <p:nvSpPr>
          <p:cNvPr id="12" name="Text 10"/>
          <p:cNvSpPr/>
          <p:nvPr/>
        </p:nvSpPr>
        <p:spPr>
          <a:xfrm>
            <a:off x="7909560" y="3291840"/>
            <a:ext cx="2331720" cy="685800"/>
          </a:xfrm>
          <a:prstGeom prst="rect">
            <a:avLst/>
          </a:prstGeom>
          <a:solidFill>
            <a:srgbClr val="FFE8E8"/>
          </a:solidFill>
          <a:ln w="12700">
            <a:solidFill>
              <a:srgbClr val="FFC2C2"/>
            </a:solidFill>
          </a:ln>
        </p:spPr>
        <p:txBody>
          <a:bodyPr wrap="square" lIns="635" tIns="635" rIns="635" bIns="635" rtlCol="0" anchor="ctr">
            <a:normAutofit/>
          </a:bodyPr>
          <a:lstStyle/>
          <a:p>
            <a:pPr algn="ctr" indent="0" marL="0">
              <a:buNone/>
            </a:pPr>
            <a:r>
              <a:rPr lang="en-US" sz="1200" b="1" dirty="0">
                <a:solidFill>
                  <a:srgbClr val="1C2430"/>
                </a:solidFill>
              </a:rPr>
              <a:t>равновесие:</a:t>
            </a:r>
            <a:endParaRPr lang="en-US" sz="1200" dirty="0"/>
          </a:p>
          <a:p>
            <a:pPr algn="ctr" indent="0" marL="0">
              <a:buNone/>
            </a:pPr>
            <a:r>
              <a:rPr lang="en-US" sz="1200" b="1" dirty="0">
                <a:solidFill>
                  <a:srgbClr val="1C2430"/>
                </a:solidFill>
              </a:rPr>
              <a:t>никому невыгодно отклоняться</a:t>
            </a:r>
            <a:endParaRPr lang="en-US" sz="1200" dirty="0"/>
          </a:p>
        </p:txBody>
      </p:sp>
      <p:sp>
        <p:nvSpPr>
          <p:cNvPr id="13" name="Text 11"/>
          <p:cNvSpPr/>
          <p:nvPr/>
        </p:nvSpPr>
        <p:spPr>
          <a:xfrm>
            <a:off x="7315200" y="4297680"/>
            <a:ext cx="3520440" cy="566928"/>
          </a:xfrm>
          <a:prstGeom prst="rect">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00" b="1" dirty="0">
                <a:solidFill>
                  <a:srgbClr val="1C2430"/>
                </a:solidFill>
              </a:rPr>
              <a:t>проверка архитектора:</a:t>
            </a:r>
            <a:endParaRPr lang="en-US" sz="1000" dirty="0"/>
          </a:p>
          <a:p>
            <a:pPr algn="ctr" indent="0" marL="0">
              <a:buNone/>
            </a:pPr>
            <a:r>
              <a:rPr lang="en-US" sz="1000" b="1" dirty="0">
                <a:solidFill>
                  <a:srgbClr val="1C2430"/>
                </a:solidFill>
              </a:rPr>
              <a:t>желательное поведение должно быть устойчивым</a:t>
            </a:r>
            <a:endParaRPr lang="en-US" sz="1000" dirty="0"/>
          </a:p>
        </p:txBody>
      </p:sp>
      <p:sp>
        <p:nvSpPr>
          <p:cNvPr id="14" name="Shape 12"/>
          <p:cNvSpPr/>
          <p:nvPr/>
        </p:nvSpPr>
        <p:spPr>
          <a:xfrm>
            <a:off x="320040" y="6473952"/>
            <a:ext cx="11521440" cy="0"/>
          </a:xfrm>
          <a:prstGeom prst="line">
            <a:avLst/>
          </a:prstGeom>
          <a:noFill/>
          <a:ln w="7620">
            <a:solidFill>
              <a:srgbClr val="DDE3EA"/>
            </a:solidFill>
            <a:prstDash val="solid"/>
          </a:ln>
        </p:spPr>
      </p:sp>
      <p:sp>
        <p:nvSpPr>
          <p:cNvPr id="15" name="Text 13"/>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3. Равновесия и рациональность</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Доминирующие стратегии и ловушки рациональности</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09</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Доминирующая стратегия лучше для агента независимо от действий других</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Если у каждого есть доминирующая стратегия, система предсказуема и проще автоматизируется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Проблема: доминирующие стратегии могут приводить к коллективно плохому исходу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Классический мотив: дилемма заключенного, отказ от кооперации, перегрузка общего ресурса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Решение в MAS: повторность, штрафы, доверие, контракты, прозрачность действий</a:t>
            </a:r>
            <a:endParaRPr lang="en-US" sz="1550" dirty="0"/>
          </a:p>
        </p:txBody>
      </p:sp>
      <p:sp>
        <p:nvSpPr>
          <p:cNvPr id="7" name="Text 5"/>
          <p:cNvSpPr/>
          <p:nvPr/>
        </p:nvSpPr>
        <p:spPr>
          <a:xfrm>
            <a:off x="6812280" y="1444752"/>
            <a:ext cx="4251960" cy="228600"/>
          </a:xfrm>
          <a:prstGeom prst="rect">
            <a:avLst/>
          </a:prstGeom>
          <a:noFill/>
          <a:ln/>
        </p:spPr>
        <p:txBody>
          <a:bodyPr wrap="square" lIns="0" tIns="0" rIns="0" bIns="0" rtlCol="0" anchor="ctr"/>
          <a:lstStyle/>
          <a:p>
            <a:pPr algn="ctr" indent="0" marL="0">
              <a:buNone/>
            </a:pPr>
            <a:r>
              <a:rPr lang="en-US" sz="1100" b="1" dirty="0">
                <a:solidFill>
                  <a:srgbClr val="607080"/>
                </a:solidFill>
              </a:rPr>
              <a:t>Нормальная форма</a:t>
            </a:r>
            <a:endParaRPr lang="en-US" sz="1100" dirty="0"/>
          </a:p>
        </p:txBody>
      </p:sp>
      <p:sp>
        <p:nvSpPr>
          <p:cNvPr id="8" name="Text 6"/>
          <p:cNvSpPr/>
          <p:nvPr/>
        </p:nvSpPr>
        <p:spPr>
          <a:xfrm>
            <a:off x="6812280" y="173736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endParaRPr lang="en-US" sz="900" dirty="0"/>
          </a:p>
        </p:txBody>
      </p:sp>
      <p:sp>
        <p:nvSpPr>
          <p:cNvPr id="9" name="Text 7"/>
          <p:cNvSpPr/>
          <p:nvPr/>
        </p:nvSpPr>
        <p:spPr>
          <a:xfrm>
            <a:off x="8229600" y="173736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a1</a:t>
            </a:r>
            <a:endParaRPr lang="en-US" sz="900" dirty="0"/>
          </a:p>
        </p:txBody>
      </p:sp>
      <p:sp>
        <p:nvSpPr>
          <p:cNvPr id="10" name="Text 8"/>
          <p:cNvSpPr/>
          <p:nvPr/>
        </p:nvSpPr>
        <p:spPr>
          <a:xfrm>
            <a:off x="9646920" y="173736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a2</a:t>
            </a:r>
            <a:endParaRPr lang="en-US" sz="900" dirty="0"/>
          </a:p>
        </p:txBody>
      </p:sp>
      <p:sp>
        <p:nvSpPr>
          <p:cNvPr id="11" name="Text 9"/>
          <p:cNvSpPr/>
          <p:nvPr/>
        </p:nvSpPr>
        <p:spPr>
          <a:xfrm>
            <a:off x="6812280" y="256032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a1</a:t>
            </a:r>
            <a:endParaRPr lang="en-US" sz="900" dirty="0"/>
          </a:p>
        </p:txBody>
      </p:sp>
      <p:sp>
        <p:nvSpPr>
          <p:cNvPr id="12" name="Text 10"/>
          <p:cNvSpPr/>
          <p:nvPr/>
        </p:nvSpPr>
        <p:spPr>
          <a:xfrm>
            <a:off x="8229600" y="2560320"/>
            <a:ext cx="1417320" cy="82296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3,3</a:t>
            </a:r>
            <a:endParaRPr lang="en-US" sz="1200" dirty="0"/>
          </a:p>
        </p:txBody>
      </p:sp>
      <p:sp>
        <p:nvSpPr>
          <p:cNvPr id="13" name="Text 11"/>
          <p:cNvSpPr/>
          <p:nvPr/>
        </p:nvSpPr>
        <p:spPr>
          <a:xfrm>
            <a:off x="9646920" y="2560320"/>
            <a:ext cx="1417320" cy="82296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0,4</a:t>
            </a:r>
            <a:endParaRPr lang="en-US" sz="1200" dirty="0"/>
          </a:p>
        </p:txBody>
      </p:sp>
      <p:sp>
        <p:nvSpPr>
          <p:cNvPr id="14" name="Text 12"/>
          <p:cNvSpPr/>
          <p:nvPr/>
        </p:nvSpPr>
        <p:spPr>
          <a:xfrm>
            <a:off x="6812280" y="3383280"/>
            <a:ext cx="1417320" cy="82296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a2</a:t>
            </a:r>
            <a:endParaRPr lang="en-US" sz="900" dirty="0"/>
          </a:p>
        </p:txBody>
      </p:sp>
      <p:sp>
        <p:nvSpPr>
          <p:cNvPr id="15" name="Text 13"/>
          <p:cNvSpPr/>
          <p:nvPr/>
        </p:nvSpPr>
        <p:spPr>
          <a:xfrm>
            <a:off x="8229600" y="3383280"/>
            <a:ext cx="1417320" cy="82296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4,0</a:t>
            </a:r>
            <a:endParaRPr lang="en-US" sz="1200" dirty="0"/>
          </a:p>
        </p:txBody>
      </p:sp>
      <p:sp>
        <p:nvSpPr>
          <p:cNvPr id="16" name="Text 14"/>
          <p:cNvSpPr/>
          <p:nvPr/>
        </p:nvSpPr>
        <p:spPr>
          <a:xfrm>
            <a:off x="9646920" y="3383280"/>
            <a:ext cx="1417320" cy="822960"/>
          </a:xfrm>
          <a:prstGeom prst="rect">
            <a:avLst/>
          </a:prstGeom>
          <a:solidFill>
            <a:srgbClr val="E7F0F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1,1</a:t>
            </a:r>
            <a:endParaRPr lang="en-US" sz="1200" dirty="0"/>
          </a:p>
        </p:txBody>
      </p:sp>
      <p:sp>
        <p:nvSpPr>
          <p:cNvPr id="17" name="Shape 15"/>
          <p:cNvSpPr/>
          <p:nvPr/>
        </p:nvSpPr>
        <p:spPr>
          <a:xfrm>
            <a:off x="320040" y="6473952"/>
            <a:ext cx="11521440" cy="0"/>
          </a:xfrm>
          <a:prstGeom prst="line">
            <a:avLst/>
          </a:prstGeom>
          <a:noFill/>
          <a:ln w="7620">
            <a:solidFill>
              <a:srgbClr val="DDE3EA"/>
            </a:solidFill>
            <a:prstDash val="solid"/>
          </a:ln>
        </p:spPr>
      </p:sp>
      <p:sp>
        <p:nvSpPr>
          <p:cNvPr id="18" name="Text 16"/>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3. Равновесия и рациональность</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Смешанные стратегии: когда случайность является защитой</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10</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Смешанная стратегия задает вероятности выбора действий, а не одно действие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Полезна, когда предсказуемость агента может быть использована противником</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Примеры: патрулирование, киберзащита, выбор проверки, распределение резервов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мультиагентных системах рандомизация снижает эксплуатацию правил другими агентами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Для реализации нужны контролируемые генераторы случайности и аудит распределений</a:t>
            </a:r>
            <a:endParaRPr lang="en-US" sz="1550" dirty="0"/>
          </a:p>
        </p:txBody>
      </p:sp>
      <p:sp>
        <p:nvSpPr>
          <p:cNvPr id="7" name="Text 5"/>
          <p:cNvSpPr/>
          <p:nvPr/>
        </p:nvSpPr>
        <p:spPr>
          <a:xfrm>
            <a:off x="6812280" y="1627632"/>
            <a:ext cx="4251960" cy="228600"/>
          </a:xfrm>
          <a:prstGeom prst="rect">
            <a:avLst/>
          </a:prstGeom>
          <a:noFill/>
          <a:ln/>
        </p:spPr>
        <p:txBody>
          <a:bodyPr wrap="square" lIns="0" tIns="0" rIns="0" bIns="0" rtlCol="0" anchor="ctr"/>
          <a:lstStyle/>
          <a:p>
            <a:pPr algn="ctr" indent="0" marL="0">
              <a:buNone/>
            </a:pPr>
            <a:r>
              <a:rPr lang="en-US" sz="1100" b="1" dirty="0">
                <a:solidFill>
                  <a:srgbClr val="607080"/>
                </a:solidFill>
              </a:rPr>
              <a:t>Защитник × атакующий</a:t>
            </a:r>
            <a:endParaRPr lang="en-US" sz="1100" dirty="0"/>
          </a:p>
        </p:txBody>
      </p:sp>
      <p:sp>
        <p:nvSpPr>
          <p:cNvPr id="8" name="Text 6"/>
          <p:cNvSpPr/>
          <p:nvPr/>
        </p:nvSpPr>
        <p:spPr>
          <a:xfrm>
            <a:off x="681228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endParaRPr lang="en-US" sz="900" dirty="0"/>
          </a:p>
        </p:txBody>
      </p:sp>
      <p:sp>
        <p:nvSpPr>
          <p:cNvPr id="9" name="Text 7"/>
          <p:cNvSpPr/>
          <p:nvPr/>
        </p:nvSpPr>
        <p:spPr>
          <a:xfrm>
            <a:off x="822960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a1</a:t>
            </a:r>
            <a:endParaRPr lang="en-US" sz="900" dirty="0"/>
          </a:p>
        </p:txBody>
      </p:sp>
      <p:sp>
        <p:nvSpPr>
          <p:cNvPr id="10" name="Text 8"/>
          <p:cNvSpPr/>
          <p:nvPr/>
        </p:nvSpPr>
        <p:spPr>
          <a:xfrm>
            <a:off x="964692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a2</a:t>
            </a:r>
            <a:endParaRPr lang="en-US" sz="900" dirty="0"/>
          </a:p>
        </p:txBody>
      </p:sp>
      <p:sp>
        <p:nvSpPr>
          <p:cNvPr id="11" name="Text 9"/>
          <p:cNvSpPr/>
          <p:nvPr/>
        </p:nvSpPr>
        <p:spPr>
          <a:xfrm>
            <a:off x="6812280" y="252603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a1</a:t>
            </a:r>
            <a:endParaRPr lang="en-US" sz="900" dirty="0"/>
          </a:p>
        </p:txBody>
      </p:sp>
      <p:sp>
        <p:nvSpPr>
          <p:cNvPr id="12" name="Text 10"/>
          <p:cNvSpPr/>
          <p:nvPr/>
        </p:nvSpPr>
        <p:spPr>
          <a:xfrm>
            <a:off x="8229600" y="2526030"/>
            <a:ext cx="1417320" cy="60579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5,-5</a:t>
            </a:r>
            <a:endParaRPr lang="en-US" sz="1200" dirty="0"/>
          </a:p>
        </p:txBody>
      </p:sp>
      <p:sp>
        <p:nvSpPr>
          <p:cNvPr id="13" name="Text 11"/>
          <p:cNvSpPr/>
          <p:nvPr/>
        </p:nvSpPr>
        <p:spPr>
          <a:xfrm>
            <a:off x="9646920" y="2526030"/>
            <a:ext cx="1417320" cy="605790"/>
          </a:xfrm>
          <a:prstGeom prst="rect">
            <a:avLst/>
          </a:prstGeom>
          <a:solidFill>
            <a:srgbClr val="EAF7E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0,0</a:t>
            </a:r>
            <a:endParaRPr lang="en-US" sz="1200" dirty="0"/>
          </a:p>
        </p:txBody>
      </p:sp>
      <p:sp>
        <p:nvSpPr>
          <p:cNvPr id="14" name="Text 12"/>
          <p:cNvSpPr/>
          <p:nvPr/>
        </p:nvSpPr>
        <p:spPr>
          <a:xfrm>
            <a:off x="6812280" y="313182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a2</a:t>
            </a:r>
            <a:endParaRPr lang="en-US" sz="900" dirty="0"/>
          </a:p>
        </p:txBody>
      </p:sp>
      <p:sp>
        <p:nvSpPr>
          <p:cNvPr id="15" name="Text 13"/>
          <p:cNvSpPr/>
          <p:nvPr/>
        </p:nvSpPr>
        <p:spPr>
          <a:xfrm>
            <a:off x="8229600" y="3131820"/>
            <a:ext cx="1417320" cy="605790"/>
          </a:xfrm>
          <a:prstGeom prst="rect">
            <a:avLst/>
          </a:prstGeom>
          <a:solidFill>
            <a:srgbClr val="EAF7E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2,-2</a:t>
            </a:r>
            <a:endParaRPr lang="en-US" sz="1200" dirty="0"/>
          </a:p>
        </p:txBody>
      </p:sp>
      <p:sp>
        <p:nvSpPr>
          <p:cNvPr id="16" name="Text 14"/>
          <p:cNvSpPr/>
          <p:nvPr/>
        </p:nvSpPr>
        <p:spPr>
          <a:xfrm>
            <a:off x="9646920" y="3131820"/>
            <a:ext cx="1417320" cy="60579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4,-4</a:t>
            </a:r>
            <a:endParaRPr lang="en-US" sz="1200" dirty="0"/>
          </a:p>
        </p:txBody>
      </p:sp>
      <p:sp>
        <p:nvSpPr>
          <p:cNvPr id="17" name="Text 15"/>
          <p:cNvSpPr/>
          <p:nvPr/>
        </p:nvSpPr>
        <p:spPr>
          <a:xfrm>
            <a:off x="6812280" y="373761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a3</a:t>
            </a:r>
            <a:endParaRPr lang="en-US" sz="900" dirty="0"/>
          </a:p>
        </p:txBody>
      </p:sp>
      <p:sp>
        <p:nvSpPr>
          <p:cNvPr id="18" name="Text 16"/>
          <p:cNvSpPr/>
          <p:nvPr/>
        </p:nvSpPr>
        <p:spPr>
          <a:xfrm>
            <a:off x="8229600" y="3737610"/>
            <a:ext cx="1417320" cy="60579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1,-1</a:t>
            </a:r>
            <a:endParaRPr lang="en-US" sz="1200" dirty="0"/>
          </a:p>
        </p:txBody>
      </p:sp>
      <p:sp>
        <p:nvSpPr>
          <p:cNvPr id="19" name="Text 17"/>
          <p:cNvSpPr/>
          <p:nvPr/>
        </p:nvSpPr>
        <p:spPr>
          <a:xfrm>
            <a:off x="9646920" y="3737610"/>
            <a:ext cx="1417320" cy="60579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3,-3</a:t>
            </a:r>
            <a:endParaRPr lang="en-US" sz="1200" dirty="0"/>
          </a:p>
        </p:txBody>
      </p:sp>
      <p:sp>
        <p:nvSpPr>
          <p:cNvPr id="20" name="Shape 18"/>
          <p:cNvSpPr/>
          <p:nvPr/>
        </p:nvSpPr>
        <p:spPr>
          <a:xfrm>
            <a:off x="320040" y="6473952"/>
            <a:ext cx="11521440" cy="0"/>
          </a:xfrm>
          <a:prstGeom prst="line">
            <a:avLst/>
          </a:prstGeom>
          <a:noFill/>
          <a:ln w="7620">
            <a:solidFill>
              <a:srgbClr val="DDE3EA"/>
            </a:solidFill>
            <a:prstDash val="solid"/>
          </a:ln>
        </p:spPr>
      </p:sp>
      <p:sp>
        <p:nvSpPr>
          <p:cNvPr id="21" name="Text 19"/>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3. Равновесия и рациональность</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Повторяющиеся игры: репутация сильнее разового выигрыша</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11</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повторяющейся игре текущий выигрыш зависит от будущих взаимодействий</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Появляются стратегии наказания и поощрения: tit-for-tat, generous tit-for-tat, grim trigger</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Репутация превращает «обмануть один раз» в долгосрочно дорогую стратегию</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Для MAS это основа доверия, черных списков, рейтингов исполнителей и протоколов восстановления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История должна быть верифицируемой, иначе репутацию можно подделывать</a:t>
            </a:r>
            <a:endParaRPr lang="en-US" sz="1550" dirty="0"/>
          </a:p>
        </p:txBody>
      </p:sp>
      <p:sp>
        <p:nvSpPr>
          <p:cNvPr id="7" name="Shape 5"/>
          <p:cNvSpPr/>
          <p:nvPr/>
        </p:nvSpPr>
        <p:spPr>
          <a:xfrm>
            <a:off x="6812280" y="2240280"/>
            <a:ext cx="4297680" cy="0"/>
          </a:xfrm>
          <a:prstGeom prst="line">
            <a:avLst/>
          </a:prstGeom>
          <a:noFill/>
          <a:ln w="25400">
            <a:solidFill>
              <a:srgbClr val="A0AEC0"/>
            </a:solidFill>
            <a:prstDash val="solid"/>
          </a:ln>
        </p:spPr>
      </p:sp>
      <p:sp>
        <p:nvSpPr>
          <p:cNvPr id="8" name="Shape 6"/>
          <p:cNvSpPr/>
          <p:nvPr/>
        </p:nvSpPr>
        <p:spPr>
          <a:xfrm>
            <a:off x="6720840" y="2148840"/>
            <a:ext cx="201168" cy="201168"/>
          </a:xfrm>
          <a:prstGeom prst="ellipse">
            <a:avLst/>
          </a:prstGeom>
          <a:solidFill>
            <a:srgbClr val="246BFE"/>
          </a:solidFill>
          <a:ln w="12700">
            <a:solidFill>
              <a:srgbClr val="FFFFFF"/>
            </a:solidFill>
            <a:prstDash val="solid"/>
          </a:ln>
        </p:spPr>
      </p:sp>
      <p:sp>
        <p:nvSpPr>
          <p:cNvPr id="9" name="Text 7"/>
          <p:cNvSpPr/>
          <p:nvPr/>
        </p:nvSpPr>
        <p:spPr>
          <a:xfrm>
            <a:off x="640080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t=1</a:t>
            </a:r>
            <a:endParaRPr lang="en-US" sz="720" dirty="0"/>
          </a:p>
          <a:p>
            <a:pPr algn="ctr" indent="0" marL="0">
              <a:buNone/>
            </a:pPr>
            <a:r>
              <a:rPr lang="en-US" sz="720" b="1" dirty="0">
                <a:solidFill>
                  <a:srgbClr val="1C2430"/>
                </a:solidFill>
              </a:rPr>
              <a:t>сигнал</a:t>
            </a:r>
            <a:endParaRPr lang="en-US" sz="720" dirty="0"/>
          </a:p>
        </p:txBody>
      </p:sp>
      <p:sp>
        <p:nvSpPr>
          <p:cNvPr id="10" name="Shape 8"/>
          <p:cNvSpPr/>
          <p:nvPr/>
        </p:nvSpPr>
        <p:spPr>
          <a:xfrm>
            <a:off x="7795260" y="2148840"/>
            <a:ext cx="201168" cy="201168"/>
          </a:xfrm>
          <a:prstGeom prst="ellipse">
            <a:avLst/>
          </a:prstGeom>
          <a:solidFill>
            <a:srgbClr val="7048E8"/>
          </a:solidFill>
          <a:ln w="12700">
            <a:solidFill>
              <a:srgbClr val="FFFFFF"/>
            </a:solidFill>
            <a:prstDash val="solid"/>
          </a:ln>
        </p:spPr>
      </p:sp>
      <p:sp>
        <p:nvSpPr>
          <p:cNvPr id="11" name="Text 9"/>
          <p:cNvSpPr/>
          <p:nvPr/>
        </p:nvSpPr>
        <p:spPr>
          <a:xfrm>
            <a:off x="747522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t=2</a:t>
            </a:r>
            <a:endParaRPr lang="en-US" sz="720" dirty="0"/>
          </a:p>
          <a:p>
            <a:pPr algn="ctr" indent="0" marL="0">
              <a:buNone/>
            </a:pPr>
            <a:r>
              <a:rPr lang="en-US" sz="720" b="1" dirty="0">
                <a:solidFill>
                  <a:srgbClr val="1C2430"/>
                </a:solidFill>
              </a:rPr>
              <a:t>ответ</a:t>
            </a:r>
            <a:endParaRPr lang="en-US" sz="720" dirty="0"/>
          </a:p>
        </p:txBody>
      </p:sp>
      <p:sp>
        <p:nvSpPr>
          <p:cNvPr id="12" name="Shape 10"/>
          <p:cNvSpPr/>
          <p:nvPr/>
        </p:nvSpPr>
        <p:spPr>
          <a:xfrm>
            <a:off x="8869680" y="2148840"/>
            <a:ext cx="201168" cy="201168"/>
          </a:xfrm>
          <a:prstGeom prst="ellipse">
            <a:avLst/>
          </a:prstGeom>
          <a:solidFill>
            <a:srgbClr val="2F9E44"/>
          </a:solidFill>
          <a:ln w="12700">
            <a:solidFill>
              <a:srgbClr val="FFFFFF"/>
            </a:solidFill>
            <a:prstDash val="solid"/>
          </a:ln>
        </p:spPr>
      </p:sp>
      <p:sp>
        <p:nvSpPr>
          <p:cNvPr id="13" name="Text 11"/>
          <p:cNvSpPr/>
          <p:nvPr/>
        </p:nvSpPr>
        <p:spPr>
          <a:xfrm>
            <a:off x="854964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t=3</a:t>
            </a:r>
            <a:endParaRPr lang="en-US" sz="720" dirty="0"/>
          </a:p>
          <a:p>
            <a:pPr algn="ctr" indent="0" marL="0">
              <a:buNone/>
            </a:pPr>
            <a:r>
              <a:rPr lang="en-US" sz="720" b="1" dirty="0">
                <a:solidFill>
                  <a:srgbClr val="1C2430"/>
                </a:solidFill>
              </a:rPr>
              <a:t>наказание</a:t>
            </a:r>
            <a:endParaRPr lang="en-US" sz="720" dirty="0"/>
          </a:p>
        </p:txBody>
      </p:sp>
      <p:sp>
        <p:nvSpPr>
          <p:cNvPr id="14" name="Shape 12"/>
          <p:cNvSpPr/>
          <p:nvPr/>
        </p:nvSpPr>
        <p:spPr>
          <a:xfrm>
            <a:off x="9944100" y="2148840"/>
            <a:ext cx="201168" cy="201168"/>
          </a:xfrm>
          <a:prstGeom prst="ellipse">
            <a:avLst/>
          </a:prstGeom>
          <a:solidFill>
            <a:srgbClr val="F59F00"/>
          </a:solidFill>
          <a:ln w="12700">
            <a:solidFill>
              <a:srgbClr val="FFFFFF"/>
            </a:solidFill>
            <a:prstDash val="solid"/>
          </a:ln>
        </p:spPr>
      </p:sp>
      <p:sp>
        <p:nvSpPr>
          <p:cNvPr id="15" name="Text 13"/>
          <p:cNvSpPr/>
          <p:nvPr/>
        </p:nvSpPr>
        <p:spPr>
          <a:xfrm>
            <a:off x="962406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t=4</a:t>
            </a:r>
            <a:endParaRPr lang="en-US" sz="720" dirty="0"/>
          </a:p>
          <a:p>
            <a:pPr algn="ctr" indent="0" marL="0">
              <a:buNone/>
            </a:pPr>
            <a:r>
              <a:rPr lang="en-US" sz="720" b="1" dirty="0">
                <a:solidFill>
                  <a:srgbClr val="1C2430"/>
                </a:solidFill>
              </a:rPr>
              <a:t>прощение</a:t>
            </a:r>
            <a:endParaRPr lang="en-US" sz="720" dirty="0"/>
          </a:p>
        </p:txBody>
      </p:sp>
      <p:sp>
        <p:nvSpPr>
          <p:cNvPr id="16" name="Shape 14"/>
          <p:cNvSpPr/>
          <p:nvPr/>
        </p:nvSpPr>
        <p:spPr>
          <a:xfrm>
            <a:off x="11018520" y="2148840"/>
            <a:ext cx="201168" cy="201168"/>
          </a:xfrm>
          <a:prstGeom prst="ellipse">
            <a:avLst/>
          </a:prstGeom>
          <a:solidFill>
            <a:srgbClr val="E03131"/>
          </a:solidFill>
          <a:ln w="12700">
            <a:solidFill>
              <a:srgbClr val="FFFFFF"/>
            </a:solidFill>
            <a:prstDash val="solid"/>
          </a:ln>
        </p:spPr>
      </p:sp>
      <p:sp>
        <p:nvSpPr>
          <p:cNvPr id="17" name="Text 15"/>
          <p:cNvSpPr/>
          <p:nvPr/>
        </p:nvSpPr>
        <p:spPr>
          <a:xfrm>
            <a:off x="1069848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t=n</a:t>
            </a:r>
            <a:endParaRPr lang="en-US" sz="720" dirty="0"/>
          </a:p>
          <a:p>
            <a:pPr algn="ctr" indent="0" marL="0">
              <a:buNone/>
            </a:pPr>
            <a:r>
              <a:rPr lang="en-US" sz="720" b="1" dirty="0">
                <a:solidFill>
                  <a:srgbClr val="1C2430"/>
                </a:solidFill>
              </a:rPr>
              <a:t>норма</a:t>
            </a:r>
            <a:endParaRPr lang="en-US" sz="720" dirty="0"/>
          </a:p>
        </p:txBody>
      </p:sp>
      <p:sp>
        <p:nvSpPr>
          <p:cNvPr id="18" name="Shape 16"/>
          <p:cNvSpPr/>
          <p:nvPr/>
        </p:nvSpPr>
        <p:spPr>
          <a:xfrm>
            <a:off x="320040" y="6473952"/>
            <a:ext cx="11521440" cy="0"/>
          </a:xfrm>
          <a:prstGeom prst="line">
            <a:avLst/>
          </a:prstGeom>
          <a:noFill/>
          <a:ln w="7620">
            <a:solidFill>
              <a:srgbClr val="DDE3EA"/>
            </a:solidFill>
            <a:prstDash val="solid"/>
          </a:ln>
        </p:spPr>
      </p:sp>
      <p:sp>
        <p:nvSpPr>
          <p:cNvPr id="19" name="Text 17"/>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4. Неопределенность и информация</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Неполная информация: байесовские игры</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12</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Агент не всегда знает тип другого агента: честный, рискованный, атакующий, перегруженный, стратегический</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Байесовская игра описывает вероятности типов и обновление убеждений по наблюдениям</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Применения: антифрод, кибербезопасность, выбор партнера, тендеры, диагностика намерений</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Ключевая инженерная задача: собирать сигналы, которые отделяют типы агентов друг от друга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Решение зависит не только от фактов, но и от достоверности источников</a:t>
            </a:r>
            <a:endParaRPr lang="en-US" sz="1550" dirty="0"/>
          </a:p>
        </p:txBody>
      </p:sp>
      <p:sp>
        <p:nvSpPr>
          <p:cNvPr id="7" name="Shape 5"/>
          <p:cNvSpPr/>
          <p:nvPr/>
        </p:nvSpPr>
        <p:spPr>
          <a:xfrm>
            <a:off x="8823960" y="1737360"/>
            <a:ext cx="228600" cy="228600"/>
          </a:xfrm>
          <a:prstGeom prst="ellipse">
            <a:avLst/>
          </a:prstGeom>
          <a:solidFill>
            <a:srgbClr val="246BFE"/>
          </a:solidFill>
          <a:ln w="12700">
            <a:solidFill>
              <a:srgbClr val="FFFFFF"/>
            </a:solidFill>
            <a:prstDash val="solid"/>
          </a:ln>
        </p:spPr>
      </p:sp>
      <p:sp>
        <p:nvSpPr>
          <p:cNvPr id="8" name="Shape 6"/>
          <p:cNvSpPr/>
          <p:nvPr/>
        </p:nvSpPr>
        <p:spPr>
          <a:xfrm>
            <a:off x="7726680" y="2651760"/>
            <a:ext cx="228600" cy="228600"/>
          </a:xfrm>
          <a:prstGeom prst="ellipse">
            <a:avLst/>
          </a:prstGeom>
          <a:solidFill>
            <a:srgbClr val="7048E8"/>
          </a:solidFill>
          <a:ln w="12700">
            <a:solidFill>
              <a:srgbClr val="FFFFFF"/>
            </a:solidFill>
            <a:prstDash val="solid"/>
          </a:ln>
        </p:spPr>
      </p:sp>
      <p:sp>
        <p:nvSpPr>
          <p:cNvPr id="9" name="Shape 7"/>
          <p:cNvSpPr/>
          <p:nvPr/>
        </p:nvSpPr>
        <p:spPr>
          <a:xfrm>
            <a:off x="9921240" y="2651760"/>
            <a:ext cx="228600" cy="228600"/>
          </a:xfrm>
          <a:prstGeom prst="ellipse">
            <a:avLst/>
          </a:prstGeom>
          <a:solidFill>
            <a:srgbClr val="7048E8"/>
          </a:solidFill>
          <a:ln w="12700">
            <a:solidFill>
              <a:srgbClr val="FFFFFF"/>
            </a:solidFill>
            <a:prstDash val="solid"/>
          </a:ln>
        </p:spPr>
      </p:sp>
      <p:sp>
        <p:nvSpPr>
          <p:cNvPr id="10" name="Shape 8"/>
          <p:cNvSpPr/>
          <p:nvPr/>
        </p:nvSpPr>
        <p:spPr>
          <a:xfrm>
            <a:off x="7132320" y="3566160"/>
            <a:ext cx="228600" cy="228600"/>
          </a:xfrm>
          <a:prstGeom prst="ellipse">
            <a:avLst/>
          </a:prstGeom>
          <a:solidFill>
            <a:srgbClr val="2F9E44"/>
          </a:solidFill>
          <a:ln w="12700">
            <a:solidFill>
              <a:srgbClr val="FFFFFF"/>
            </a:solidFill>
            <a:prstDash val="solid"/>
          </a:ln>
        </p:spPr>
      </p:sp>
      <p:sp>
        <p:nvSpPr>
          <p:cNvPr id="11" name="Shape 9"/>
          <p:cNvSpPr/>
          <p:nvPr/>
        </p:nvSpPr>
        <p:spPr>
          <a:xfrm>
            <a:off x="8321040" y="3566160"/>
            <a:ext cx="228600" cy="228600"/>
          </a:xfrm>
          <a:prstGeom prst="ellipse">
            <a:avLst/>
          </a:prstGeom>
          <a:solidFill>
            <a:srgbClr val="2F9E44"/>
          </a:solidFill>
          <a:ln w="12700">
            <a:solidFill>
              <a:srgbClr val="FFFFFF"/>
            </a:solidFill>
            <a:prstDash val="solid"/>
          </a:ln>
        </p:spPr>
      </p:sp>
      <p:sp>
        <p:nvSpPr>
          <p:cNvPr id="12" name="Shape 10"/>
          <p:cNvSpPr/>
          <p:nvPr/>
        </p:nvSpPr>
        <p:spPr>
          <a:xfrm>
            <a:off x="9326880" y="3566160"/>
            <a:ext cx="228600" cy="228600"/>
          </a:xfrm>
          <a:prstGeom prst="ellipse">
            <a:avLst/>
          </a:prstGeom>
          <a:solidFill>
            <a:srgbClr val="2F9E44"/>
          </a:solidFill>
          <a:ln w="12700">
            <a:solidFill>
              <a:srgbClr val="FFFFFF"/>
            </a:solidFill>
            <a:prstDash val="solid"/>
          </a:ln>
        </p:spPr>
      </p:sp>
      <p:sp>
        <p:nvSpPr>
          <p:cNvPr id="13" name="Shape 11"/>
          <p:cNvSpPr/>
          <p:nvPr/>
        </p:nvSpPr>
        <p:spPr>
          <a:xfrm>
            <a:off x="10515600" y="3566160"/>
            <a:ext cx="228600" cy="228600"/>
          </a:xfrm>
          <a:prstGeom prst="ellipse">
            <a:avLst/>
          </a:prstGeom>
          <a:solidFill>
            <a:srgbClr val="2F9E44"/>
          </a:solidFill>
          <a:ln w="12700">
            <a:solidFill>
              <a:srgbClr val="FFFFFF"/>
            </a:solidFill>
            <a:prstDash val="solid"/>
          </a:ln>
        </p:spPr>
      </p:sp>
      <p:sp>
        <p:nvSpPr>
          <p:cNvPr id="14" name="Text 12"/>
          <p:cNvSpPr/>
          <p:nvPr/>
        </p:nvSpPr>
        <p:spPr>
          <a:xfrm>
            <a:off x="8412480" y="1508760"/>
            <a:ext cx="914400" cy="182880"/>
          </a:xfrm>
          <a:prstGeom prst="rect">
            <a:avLst/>
          </a:prstGeom>
          <a:noFill/>
          <a:ln/>
        </p:spPr>
        <p:txBody>
          <a:bodyPr wrap="square" lIns="0" tIns="0" rIns="0" bIns="0" rtlCol="0" anchor="ctr"/>
          <a:lstStyle/>
          <a:p>
            <a:pPr algn="ctr" indent="0" marL="0">
              <a:buNone/>
            </a:pPr>
            <a:r>
              <a:rPr lang="en-US" sz="900" dirty="0">
                <a:solidFill>
                  <a:srgbClr val="607080"/>
                </a:solidFill>
              </a:rPr>
              <a:t>ход A</a:t>
            </a:r>
            <a:endParaRPr lang="en-US" sz="900" dirty="0"/>
          </a:p>
        </p:txBody>
      </p:sp>
      <p:sp>
        <p:nvSpPr>
          <p:cNvPr id="15" name="Text 13"/>
          <p:cNvSpPr/>
          <p:nvPr/>
        </p:nvSpPr>
        <p:spPr>
          <a:xfrm>
            <a:off x="7360920" y="2944368"/>
            <a:ext cx="3474720" cy="182880"/>
          </a:xfrm>
          <a:prstGeom prst="rect">
            <a:avLst/>
          </a:prstGeom>
          <a:noFill/>
          <a:ln/>
        </p:spPr>
        <p:txBody>
          <a:bodyPr wrap="square" lIns="0" tIns="0" rIns="0" bIns="0" rtlCol="0" anchor="ctr"/>
          <a:lstStyle/>
          <a:p>
            <a:pPr algn="ctr" indent="0" marL="0">
              <a:buNone/>
            </a:pPr>
            <a:r>
              <a:rPr lang="en-US" sz="900" dirty="0">
                <a:solidFill>
                  <a:srgbClr val="607080"/>
                </a:solidFill>
              </a:rPr>
              <a:t>ход B после наблюдения/сигнала</a:t>
            </a:r>
            <a:endParaRPr lang="en-US" sz="900" dirty="0"/>
          </a:p>
        </p:txBody>
      </p:sp>
      <p:sp>
        <p:nvSpPr>
          <p:cNvPr id="16" name="Text 14"/>
          <p:cNvSpPr/>
          <p:nvPr/>
        </p:nvSpPr>
        <p:spPr>
          <a:xfrm>
            <a:off x="7223760" y="3886200"/>
            <a:ext cx="3566160" cy="228600"/>
          </a:xfrm>
          <a:prstGeom prst="rect">
            <a:avLst/>
          </a:prstGeom>
          <a:noFill/>
          <a:ln/>
        </p:spPr>
        <p:txBody>
          <a:bodyPr wrap="square" lIns="0" tIns="0" rIns="0" bIns="0" rtlCol="0" anchor="ctr"/>
          <a:lstStyle/>
          <a:p>
            <a:pPr algn="ctr" indent="0" marL="0">
              <a:buNone/>
            </a:pPr>
            <a:r>
              <a:rPr lang="en-US" sz="1000" b="1" dirty="0">
                <a:solidFill>
                  <a:srgbClr val="1C2430"/>
                </a:solidFill>
              </a:rPr>
              <a:t>выигрыши: (uA,uB)</a:t>
            </a:r>
            <a:endParaRPr lang="en-US" sz="1000" dirty="0"/>
          </a:p>
        </p:txBody>
      </p:sp>
      <p:sp>
        <p:nvSpPr>
          <p:cNvPr id="17" name="Shape 15"/>
          <p:cNvSpPr/>
          <p:nvPr/>
        </p:nvSpPr>
        <p:spPr>
          <a:xfrm>
            <a:off x="320040" y="6473952"/>
            <a:ext cx="11521440" cy="0"/>
          </a:xfrm>
          <a:prstGeom prst="line">
            <a:avLst/>
          </a:prstGeom>
          <a:noFill/>
          <a:ln w="7620">
            <a:solidFill>
              <a:srgbClr val="DDE3EA"/>
            </a:solidFill>
            <a:prstDash val="solid"/>
          </a:ln>
        </p:spPr>
      </p:sp>
      <p:sp>
        <p:nvSpPr>
          <p:cNvPr id="18" name="Text 16"/>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5. Механизмы и стимулы</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Механизмы: проектирование правил, а не только агентов</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13</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Механизм задает: какие сообщения отправляют агенты, как выбирается исход, какие платежи или санкции применяются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Цель дизайна механизмов — добиться системного результата при частных интересах агентов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Ключевые свойства: стимулосовместимость, индивидуальная рациональность, эффективность, бюджетный баланс</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ИТ это превращается в API, протокол торгов, правила очереди, SLA, штрафы и аудит</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Механизм должен быть вычислимо реализуемым и устойчивым к манипуляциям</a:t>
            </a:r>
            <a:endParaRPr lang="en-US" sz="1550" dirty="0"/>
          </a:p>
        </p:txBody>
      </p:sp>
      <p:sp>
        <p:nvSpPr>
          <p:cNvPr id="7" name="Text 5"/>
          <p:cNvSpPr/>
          <p:nvPr/>
        </p:nvSpPr>
        <p:spPr>
          <a:xfrm>
            <a:off x="6812280" y="1828800"/>
            <a:ext cx="713232" cy="585216"/>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типы</a:t>
            </a:r>
            <a:endParaRPr lang="en-US" sz="1000" dirty="0"/>
          </a:p>
        </p:txBody>
      </p:sp>
      <p:sp>
        <p:nvSpPr>
          <p:cNvPr id="8" name="Text 6"/>
          <p:cNvSpPr/>
          <p:nvPr/>
        </p:nvSpPr>
        <p:spPr>
          <a:xfrm>
            <a:off x="7680960" y="1828800"/>
            <a:ext cx="713232" cy="585216"/>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сообщения</a:t>
            </a:r>
            <a:endParaRPr lang="en-US" sz="1000" dirty="0"/>
          </a:p>
        </p:txBody>
      </p:sp>
      <p:sp>
        <p:nvSpPr>
          <p:cNvPr id="9" name="Text 7"/>
          <p:cNvSpPr/>
          <p:nvPr/>
        </p:nvSpPr>
        <p:spPr>
          <a:xfrm>
            <a:off x="8549640" y="1828800"/>
            <a:ext cx="713232" cy="585216"/>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правило</a:t>
            </a:r>
            <a:endParaRPr lang="en-US" sz="1000" dirty="0"/>
          </a:p>
        </p:txBody>
      </p:sp>
      <p:sp>
        <p:nvSpPr>
          <p:cNvPr id="10" name="Text 8"/>
          <p:cNvSpPr/>
          <p:nvPr/>
        </p:nvSpPr>
        <p:spPr>
          <a:xfrm>
            <a:off x="9418320" y="1828800"/>
            <a:ext cx="713232" cy="585216"/>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платежи</a:t>
            </a:r>
            <a:endParaRPr lang="en-US" sz="1000" dirty="0"/>
          </a:p>
        </p:txBody>
      </p:sp>
      <p:sp>
        <p:nvSpPr>
          <p:cNvPr id="11" name="Text 9"/>
          <p:cNvSpPr/>
          <p:nvPr/>
        </p:nvSpPr>
        <p:spPr>
          <a:xfrm>
            <a:off x="10287000" y="1828800"/>
            <a:ext cx="713232" cy="585216"/>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исход</a:t>
            </a:r>
            <a:endParaRPr lang="en-US" sz="10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Nisan et al., Algorithmic Game Theory; Roughgarden, Twenty Lectures on Algorithmic Game Theory; Easley &amp; Kleinberg, Networks, Crowds, and Markets</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5. Механизмы и стимулы</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Стимулосовместимость: когда правду говорить выгодно</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14</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Стимулосовместимый механизм делает честное сообщение лучшей стратегией агента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Пример цели: агенту выгодно назвать реальную стоимость выполнения задачи, а не завысить ее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Без этого система получает стратегические искажения данных</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MAS стимулосовместимость нужна для аукционов задач, распределения ресурсов, голосования, репутации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Проверка: может ли агент выиграть, солгав о типе, стоимости или предпочтениях?</a:t>
            </a:r>
            <a:endParaRPr lang="en-US" sz="1550" dirty="0"/>
          </a:p>
        </p:txBody>
      </p:sp>
      <p:sp>
        <p:nvSpPr>
          <p:cNvPr id="7" name="Text 5"/>
          <p:cNvSpPr/>
          <p:nvPr/>
        </p:nvSpPr>
        <p:spPr>
          <a:xfrm>
            <a:off x="6812280" y="1188720"/>
            <a:ext cx="4297680" cy="201168"/>
          </a:xfrm>
          <a:prstGeom prst="rect">
            <a:avLst/>
          </a:prstGeom>
          <a:noFill/>
          <a:ln/>
        </p:spPr>
        <p:txBody>
          <a:bodyPr wrap="square" lIns="0" tIns="0" rIns="0" bIns="0" rtlCol="0" anchor="ctr"/>
          <a:lstStyle/>
          <a:p>
            <a:pPr algn="ctr" indent="0" marL="0">
              <a:buNone/>
            </a:pPr>
            <a:r>
              <a:rPr lang="en-US" sz="1100" b="1" dirty="0">
                <a:solidFill>
                  <a:srgbClr val="607080"/>
                </a:solidFill>
              </a:rPr>
              <a:t>Игра как модель взаимодействия</a:t>
            </a:r>
            <a:endParaRPr lang="en-US" sz="1100" dirty="0"/>
          </a:p>
        </p:txBody>
      </p:sp>
      <p:sp>
        <p:nvSpPr>
          <p:cNvPr id="8" name="Text 6"/>
          <p:cNvSpPr/>
          <p:nvPr/>
        </p:nvSpPr>
        <p:spPr>
          <a:xfrm>
            <a:off x="8229600" y="1508760"/>
            <a:ext cx="1463040" cy="68580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100" b="1" dirty="0">
                <a:solidFill>
                  <a:srgbClr val="1C2430"/>
                </a:solidFill>
              </a:rPr>
              <a:t>стратегии</a:t>
            </a:r>
            <a:endParaRPr lang="en-US" sz="1100" dirty="0"/>
          </a:p>
          <a:p>
            <a:pPr algn="ctr" indent="0" marL="0">
              <a:buNone/>
            </a:pPr>
            <a:r>
              <a:rPr lang="en-US" sz="1100" b="1" dirty="0">
                <a:solidFill>
                  <a:srgbClr val="1C2430"/>
                </a:solidFill>
              </a:rPr>
              <a:t>агентов</a:t>
            </a:r>
            <a:endParaRPr lang="en-US" sz="1100" dirty="0"/>
          </a:p>
        </p:txBody>
      </p:sp>
      <p:sp>
        <p:nvSpPr>
          <p:cNvPr id="9" name="Text 7"/>
          <p:cNvSpPr/>
          <p:nvPr/>
        </p:nvSpPr>
        <p:spPr>
          <a:xfrm>
            <a:off x="7040880" y="2743200"/>
            <a:ext cx="1417320" cy="685800"/>
          </a:xfrm>
          <a:prstGeom prst="rect">
            <a:avLst/>
          </a:prstGeom>
          <a:solidFill>
            <a:srgbClr val="FFF4D6"/>
          </a:solidFill>
          <a:ln w="12700">
            <a:solidFill>
              <a:srgbClr val="FFE08A"/>
            </a:solidFill>
          </a:ln>
        </p:spPr>
        <p:txBody>
          <a:bodyPr wrap="square" lIns="635" tIns="635" rIns="635" bIns="635" rtlCol="0" anchor="ctr">
            <a:normAutofit/>
          </a:bodyPr>
          <a:lstStyle/>
          <a:p>
            <a:pPr algn="ctr" indent="0" marL="0">
              <a:buNone/>
            </a:pPr>
            <a:r>
              <a:rPr lang="en-US" sz="1100" b="1" dirty="0">
                <a:solidFill>
                  <a:srgbClr val="1C2430"/>
                </a:solidFill>
              </a:rPr>
              <a:t>выигрыши</a:t>
            </a:r>
            <a:endParaRPr lang="en-US" sz="1100" dirty="0"/>
          </a:p>
          <a:p>
            <a:pPr algn="ctr" indent="0" marL="0">
              <a:buNone/>
            </a:pPr>
            <a:r>
              <a:rPr lang="en-US" sz="1100" b="1" dirty="0">
                <a:solidFill>
                  <a:srgbClr val="1C2430"/>
                </a:solidFill>
              </a:rPr>
              <a:t>и риски</a:t>
            </a:r>
            <a:endParaRPr lang="en-US" sz="1100" dirty="0"/>
          </a:p>
        </p:txBody>
      </p:sp>
      <p:sp>
        <p:nvSpPr>
          <p:cNvPr id="10" name="Text 8"/>
          <p:cNvSpPr/>
          <p:nvPr/>
        </p:nvSpPr>
        <p:spPr>
          <a:xfrm>
            <a:off x="9418320" y="2743200"/>
            <a:ext cx="1417320" cy="68580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100" b="1" dirty="0">
                <a:solidFill>
                  <a:srgbClr val="1C2430"/>
                </a:solidFill>
              </a:rPr>
              <a:t>протокол</a:t>
            </a:r>
            <a:endParaRPr lang="en-US" sz="1100" dirty="0"/>
          </a:p>
          <a:p>
            <a:pPr algn="ctr" indent="0" marL="0">
              <a:buNone/>
            </a:pPr>
            <a:r>
              <a:rPr lang="en-US" sz="1100" b="1" dirty="0">
                <a:solidFill>
                  <a:srgbClr val="1C2430"/>
                </a:solidFill>
              </a:rPr>
              <a:t>взаимодействия</a:t>
            </a:r>
            <a:endParaRPr lang="en-US" sz="1100" dirty="0"/>
          </a:p>
        </p:txBody>
      </p:sp>
      <p:sp>
        <p:nvSpPr>
          <p:cNvPr id="11" name="Shape 9"/>
          <p:cNvSpPr/>
          <p:nvPr/>
        </p:nvSpPr>
        <p:spPr>
          <a:xfrm>
            <a:off x="320040" y="6473952"/>
            <a:ext cx="11521440" cy="0"/>
          </a:xfrm>
          <a:prstGeom prst="line">
            <a:avLst/>
          </a:prstGeom>
          <a:noFill/>
          <a:ln w="7620">
            <a:solidFill>
              <a:srgbClr val="DDE3EA"/>
            </a:solidFill>
            <a:prstDash val="solid"/>
          </a:ln>
        </p:spPr>
      </p:sp>
      <p:sp>
        <p:nvSpPr>
          <p:cNvPr id="12" name="Text 10"/>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Nisan et al., Algorithmic Game Theory; Roughgarden, Twenty Lectures on Algorithmic Game Theory; Easley &amp; Kleinberg, Networks, Crowds, and Markets</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6. Аукционы и распределение задач</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Аукционы: рынок задач и ресурсов для агентов</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15</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Аукцион распределяет ограниченный ресурс между агентами через ставки или предложения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Английский, голландский, закрытый, второй цены, двойной и комбинаторный аукционы решают разные задачи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MAS аукционы применяются для задач роботов, облачных ресурсов, энергии, сетевых каналов, вычислительных контрактов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Критерии выбора: эффективность, честность, вычислительная сложность, устойчивость к сговору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Комбинаторные аукционы полезны, когда ценность набора задач не равна сумме отдельных задач</a:t>
            </a:r>
            <a:endParaRPr lang="en-US" sz="1550" dirty="0"/>
          </a:p>
        </p:txBody>
      </p:sp>
      <p:sp>
        <p:nvSpPr>
          <p:cNvPr id="7" name="Text 5"/>
          <p:cNvSpPr/>
          <p:nvPr/>
        </p:nvSpPr>
        <p:spPr>
          <a:xfrm>
            <a:off x="8458200" y="1645920"/>
            <a:ext cx="1554480" cy="502920"/>
          </a:xfrm>
          <a:prstGeom prst="rect">
            <a:avLst/>
          </a:prstGeom>
          <a:solidFill>
            <a:srgbClr val="F1EDFF"/>
          </a:solidFill>
          <a:ln w="12700">
            <a:solidFill>
              <a:srgbClr val="C2B5FF"/>
            </a:solidFill>
          </a:ln>
        </p:spPr>
        <p:txBody>
          <a:bodyPr wrap="square" lIns="635" tIns="635" rIns="635" bIns="635" rtlCol="0" anchor="ctr">
            <a:normAutofit/>
          </a:bodyPr>
          <a:lstStyle/>
          <a:p>
            <a:pPr algn="ctr" indent="0" marL="0">
              <a:buNone/>
            </a:pPr>
            <a:r>
              <a:rPr lang="en-US" sz="1000" b="1" dirty="0">
                <a:solidFill>
                  <a:srgbClr val="1C2430"/>
                </a:solidFill>
              </a:rPr>
              <a:t>задача / ресурс</a:t>
            </a:r>
            <a:endParaRPr lang="en-US" sz="1000" dirty="0"/>
          </a:p>
        </p:txBody>
      </p:sp>
      <p:sp>
        <p:nvSpPr>
          <p:cNvPr id="8" name="Text 6"/>
          <p:cNvSpPr/>
          <p:nvPr/>
        </p:nvSpPr>
        <p:spPr>
          <a:xfrm>
            <a:off x="6812280" y="2560320"/>
            <a:ext cx="1234440" cy="548640"/>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1</a:t>
            </a:r>
            <a:endParaRPr lang="en-US" sz="1000" dirty="0"/>
          </a:p>
          <a:p>
            <a:pPr algn="ctr" indent="0" marL="0">
              <a:buNone/>
            </a:pPr>
            <a:r>
              <a:rPr lang="en-US" sz="1000" b="1" dirty="0">
                <a:solidFill>
                  <a:srgbClr val="1C2430"/>
                </a:solidFill>
              </a:rPr>
              <a:t>ставка b1</a:t>
            </a:r>
            <a:endParaRPr lang="en-US" sz="1000" dirty="0"/>
          </a:p>
        </p:txBody>
      </p:sp>
      <p:sp>
        <p:nvSpPr>
          <p:cNvPr id="9" name="Text 7"/>
          <p:cNvSpPr/>
          <p:nvPr/>
        </p:nvSpPr>
        <p:spPr>
          <a:xfrm>
            <a:off x="8412480" y="2560320"/>
            <a:ext cx="1234440" cy="548640"/>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2</a:t>
            </a:r>
            <a:endParaRPr lang="en-US" sz="1000" dirty="0"/>
          </a:p>
          <a:p>
            <a:pPr algn="ctr" indent="0" marL="0">
              <a:buNone/>
            </a:pPr>
            <a:r>
              <a:rPr lang="en-US" sz="1000" b="1" dirty="0">
                <a:solidFill>
                  <a:srgbClr val="1C2430"/>
                </a:solidFill>
              </a:rPr>
              <a:t>ставка b2</a:t>
            </a:r>
            <a:endParaRPr lang="en-US" sz="1000" dirty="0"/>
          </a:p>
        </p:txBody>
      </p:sp>
      <p:sp>
        <p:nvSpPr>
          <p:cNvPr id="10" name="Text 8"/>
          <p:cNvSpPr/>
          <p:nvPr/>
        </p:nvSpPr>
        <p:spPr>
          <a:xfrm>
            <a:off x="10012680" y="2560320"/>
            <a:ext cx="1234440" cy="548640"/>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3</a:t>
            </a:r>
            <a:endParaRPr lang="en-US" sz="1000" dirty="0"/>
          </a:p>
          <a:p>
            <a:pPr algn="ctr" indent="0" marL="0">
              <a:buNone/>
            </a:pPr>
            <a:r>
              <a:rPr lang="en-US" sz="1000" b="1" dirty="0">
                <a:solidFill>
                  <a:srgbClr val="1C2430"/>
                </a:solidFill>
              </a:rPr>
              <a:t>ставка b3</a:t>
            </a:r>
            <a:endParaRPr lang="en-US" sz="1000" dirty="0"/>
          </a:p>
        </p:txBody>
      </p:sp>
      <p:sp>
        <p:nvSpPr>
          <p:cNvPr id="11" name="Text 9"/>
          <p:cNvSpPr/>
          <p:nvPr/>
        </p:nvSpPr>
        <p:spPr>
          <a:xfrm>
            <a:off x="8412480" y="3520440"/>
            <a:ext cx="1645920" cy="502920"/>
          </a:xfrm>
          <a:prstGeom prst="rect">
            <a:avLst/>
          </a:prstGeom>
          <a:solidFill>
            <a:srgbClr val="FFFFFF"/>
          </a:solidFill>
          <a:ln w="12700">
            <a:solidFill>
              <a:srgbClr val="246BFE"/>
            </a:solidFill>
          </a:ln>
        </p:spPr>
        <p:txBody>
          <a:bodyPr wrap="square" lIns="635" tIns="635" rIns="635" bIns="635" rtlCol="0" anchor="ctr">
            <a:normAutofit/>
          </a:bodyPr>
          <a:lstStyle/>
          <a:p>
            <a:pPr algn="ctr" indent="0" marL="0">
              <a:buNone/>
            </a:pPr>
            <a:r>
              <a:rPr lang="en-US" sz="1000" b="1" dirty="0">
                <a:solidFill>
                  <a:srgbClr val="1C2430"/>
                </a:solidFill>
              </a:rPr>
              <a:t>правило</a:t>
            </a:r>
            <a:endParaRPr lang="en-US" sz="1000" dirty="0"/>
          </a:p>
          <a:p>
            <a:pPr algn="ctr" indent="0" marL="0">
              <a:buNone/>
            </a:pPr>
            <a:r>
              <a:rPr lang="en-US" sz="1000" b="1" dirty="0">
                <a:solidFill>
                  <a:srgbClr val="1C2430"/>
                </a:solidFill>
              </a:rPr>
              <a:t>выбора</a:t>
            </a:r>
            <a:endParaRPr lang="en-US" sz="1000" dirty="0"/>
          </a:p>
        </p:txBody>
      </p:sp>
      <p:sp>
        <p:nvSpPr>
          <p:cNvPr id="12" name="Text 10"/>
          <p:cNvSpPr/>
          <p:nvPr/>
        </p:nvSpPr>
        <p:spPr>
          <a:xfrm>
            <a:off x="8293608" y="4251960"/>
            <a:ext cx="1874520" cy="50292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000" b="1" dirty="0">
                <a:solidFill>
                  <a:srgbClr val="1C2430"/>
                </a:solidFill>
              </a:rPr>
              <a:t>контракт + платеж</a:t>
            </a:r>
            <a:endParaRPr lang="en-US" sz="1000" dirty="0"/>
          </a:p>
        </p:txBody>
      </p:sp>
      <p:sp>
        <p:nvSpPr>
          <p:cNvPr id="13" name="Shape 11"/>
          <p:cNvSpPr/>
          <p:nvPr/>
        </p:nvSpPr>
        <p:spPr>
          <a:xfrm>
            <a:off x="320040" y="6473952"/>
            <a:ext cx="11521440" cy="0"/>
          </a:xfrm>
          <a:prstGeom prst="line">
            <a:avLst/>
          </a:prstGeom>
          <a:noFill/>
          <a:ln w="7620">
            <a:solidFill>
              <a:srgbClr val="DDE3EA"/>
            </a:solidFill>
            <a:prstDash val="solid"/>
          </a:ln>
        </p:spPr>
      </p:sp>
      <p:sp>
        <p:nvSpPr>
          <p:cNvPr id="14" name="Text 12"/>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Nisan et al., Algorithmic Game Theory; Roughgarden, Twenty Lectures on Algorithmic Game Theory; Easley &amp; Kleinberg, Networks, Crowds, and Markets</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7. Переговоры, коалиции, социальный выбор</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Переговоры: когда результат нельзя выбрать одной ставкой</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16</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Переговоры нужны, когда есть несколько параметров сделки: цена, срок, качество, риск, штрафы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Агенты обмениваются предложениями и встречными предложениями до соглашения или выхода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Важны зоны возможного соглашения, резервные альтернативы и стоимость ожидания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Протокол переговоров должен ограничивать бесконечные циклы и недобросовестные задержки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LLM-агентах переговоры становятся естественно-языковыми, но требуют формальной валидации</a:t>
            </a:r>
            <a:endParaRPr lang="en-US" sz="1550" dirty="0"/>
          </a:p>
        </p:txBody>
      </p:sp>
      <p:sp>
        <p:nvSpPr>
          <p:cNvPr id="7" name="Text 5"/>
          <p:cNvSpPr/>
          <p:nvPr/>
        </p:nvSpPr>
        <p:spPr>
          <a:xfrm>
            <a:off x="6812280" y="1965960"/>
            <a:ext cx="713232" cy="585216"/>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наблюдение</a:t>
            </a:r>
            <a:endParaRPr lang="en-US" sz="1000" dirty="0"/>
          </a:p>
        </p:txBody>
      </p:sp>
      <p:sp>
        <p:nvSpPr>
          <p:cNvPr id="8" name="Text 6"/>
          <p:cNvSpPr/>
          <p:nvPr/>
        </p:nvSpPr>
        <p:spPr>
          <a:xfrm>
            <a:off x="7680960" y="1965960"/>
            <a:ext cx="713232" cy="585216"/>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выбор</a:t>
            </a:r>
            <a:endParaRPr lang="en-US" sz="1000" dirty="0"/>
          </a:p>
        </p:txBody>
      </p:sp>
      <p:sp>
        <p:nvSpPr>
          <p:cNvPr id="9" name="Text 7"/>
          <p:cNvSpPr/>
          <p:nvPr/>
        </p:nvSpPr>
        <p:spPr>
          <a:xfrm>
            <a:off x="8549640" y="1965960"/>
            <a:ext cx="713232" cy="585216"/>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действие</a:t>
            </a:r>
            <a:endParaRPr lang="en-US" sz="1000" dirty="0"/>
          </a:p>
        </p:txBody>
      </p:sp>
      <p:sp>
        <p:nvSpPr>
          <p:cNvPr id="10" name="Text 8"/>
          <p:cNvSpPr/>
          <p:nvPr/>
        </p:nvSpPr>
        <p:spPr>
          <a:xfrm>
            <a:off x="9418320" y="1965960"/>
            <a:ext cx="713232" cy="585216"/>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ответ</a:t>
            </a:r>
            <a:endParaRPr lang="en-US" sz="1000" dirty="0"/>
          </a:p>
        </p:txBody>
      </p:sp>
      <p:sp>
        <p:nvSpPr>
          <p:cNvPr id="11" name="Text 9"/>
          <p:cNvSpPr/>
          <p:nvPr/>
        </p:nvSpPr>
        <p:spPr>
          <a:xfrm>
            <a:off x="10287000" y="1965960"/>
            <a:ext cx="713232" cy="585216"/>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обновление</a:t>
            </a:r>
            <a:endParaRPr lang="en-US" sz="10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7. Переговоры, коалиции, социальный выбор</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Коалиционные игры: ценность совместного действия</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17</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Коалиция возникает, когда группа агентов может получить больше вместе, чем по отдельности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Главные вопросы: какие коалиции выгодны и как распределить общий выигрыш</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Применения: команды роботов, совместное использование датчиков, коллективная закупка, федеративное обучение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Проблемы: вклад агента трудно измерить, возможны паразитирование и распад коалиции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Для инженера важны правила входа, выхода, распределения выгоды и ответственности</a:t>
            </a:r>
            <a:endParaRPr lang="en-US" sz="1550" dirty="0"/>
          </a:p>
        </p:txBody>
      </p:sp>
      <p:sp>
        <p:nvSpPr>
          <p:cNvPr id="7" name="Text 5"/>
          <p:cNvSpPr/>
          <p:nvPr/>
        </p:nvSpPr>
        <p:spPr>
          <a:xfrm>
            <a:off x="7178040" y="1874520"/>
            <a:ext cx="685800" cy="50292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300" b="1" dirty="0">
                <a:solidFill>
                  <a:srgbClr val="1C2430"/>
                </a:solidFill>
              </a:rPr>
              <a:t>A</a:t>
            </a:r>
            <a:endParaRPr lang="en-US" sz="1300" dirty="0"/>
          </a:p>
        </p:txBody>
      </p:sp>
      <p:sp>
        <p:nvSpPr>
          <p:cNvPr id="8" name="Text 6"/>
          <p:cNvSpPr/>
          <p:nvPr/>
        </p:nvSpPr>
        <p:spPr>
          <a:xfrm>
            <a:off x="8641080" y="1874520"/>
            <a:ext cx="685800" cy="50292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300" b="1" dirty="0">
                <a:solidFill>
                  <a:srgbClr val="1C2430"/>
                </a:solidFill>
              </a:rPr>
              <a:t>B</a:t>
            </a:r>
            <a:endParaRPr lang="en-US" sz="1300" dirty="0"/>
          </a:p>
        </p:txBody>
      </p:sp>
      <p:sp>
        <p:nvSpPr>
          <p:cNvPr id="9" name="Text 7"/>
          <p:cNvSpPr/>
          <p:nvPr/>
        </p:nvSpPr>
        <p:spPr>
          <a:xfrm>
            <a:off x="10104120" y="1874520"/>
            <a:ext cx="685800" cy="502920"/>
          </a:xfrm>
          <a:prstGeom prst="rect">
            <a:avLst/>
          </a:prstGeom>
          <a:solidFill>
            <a:srgbClr val="FFF4D6"/>
          </a:solidFill>
          <a:ln w="12700">
            <a:solidFill>
              <a:srgbClr val="FFE08A"/>
            </a:solidFill>
          </a:ln>
        </p:spPr>
        <p:txBody>
          <a:bodyPr wrap="square" lIns="635" tIns="635" rIns="635" bIns="635" rtlCol="0" anchor="ctr">
            <a:normAutofit/>
          </a:bodyPr>
          <a:lstStyle/>
          <a:p>
            <a:pPr algn="ctr" indent="0" marL="0">
              <a:buNone/>
            </a:pPr>
            <a:r>
              <a:rPr lang="en-US" sz="1300" b="1" dirty="0">
                <a:solidFill>
                  <a:srgbClr val="1C2430"/>
                </a:solidFill>
              </a:rPr>
              <a:t>C</a:t>
            </a:r>
            <a:endParaRPr lang="en-US" sz="1300" dirty="0"/>
          </a:p>
        </p:txBody>
      </p:sp>
      <p:sp>
        <p:nvSpPr>
          <p:cNvPr id="10" name="Text 8"/>
          <p:cNvSpPr/>
          <p:nvPr/>
        </p:nvSpPr>
        <p:spPr>
          <a:xfrm>
            <a:off x="7680960" y="3017520"/>
            <a:ext cx="2743200" cy="777240"/>
          </a:xfrm>
          <a:prstGeom prst="rect">
            <a:avLst/>
          </a:prstGeom>
          <a:solidFill>
            <a:srgbClr val="F1EDFF"/>
          </a:solidFill>
          <a:ln w="12700">
            <a:solidFill>
              <a:srgbClr val="C2B5FF"/>
            </a:solidFill>
          </a:ln>
        </p:spPr>
        <p:txBody>
          <a:bodyPr wrap="square" lIns="635" tIns="635" rIns="635" bIns="635" rtlCol="0" anchor="ctr">
            <a:normAutofit/>
          </a:bodyPr>
          <a:lstStyle/>
          <a:p>
            <a:pPr algn="ctr" indent="0" marL="0">
              <a:buNone/>
            </a:pPr>
            <a:r>
              <a:rPr lang="en-US" sz="1300" b="1" dirty="0">
                <a:solidFill>
                  <a:srgbClr val="1C2430"/>
                </a:solidFill>
              </a:rPr>
              <a:t>коалиция {A,B,C}</a:t>
            </a:r>
            <a:endParaRPr lang="en-US" sz="1300" dirty="0"/>
          </a:p>
          <a:p>
            <a:pPr algn="ctr" indent="0" marL="0">
              <a:buNone/>
            </a:pPr>
            <a:r>
              <a:rPr lang="en-US" sz="1300" b="1" dirty="0">
                <a:solidFill>
                  <a:srgbClr val="1C2430"/>
                </a:solidFill>
              </a:rPr>
              <a:t>распределение выигрыша</a:t>
            </a:r>
            <a:endParaRPr lang="en-US" sz="1300" dirty="0"/>
          </a:p>
        </p:txBody>
      </p:sp>
      <p:sp>
        <p:nvSpPr>
          <p:cNvPr id="11" name="Shape 9"/>
          <p:cNvSpPr/>
          <p:nvPr/>
        </p:nvSpPr>
        <p:spPr>
          <a:xfrm>
            <a:off x="320040" y="6473952"/>
            <a:ext cx="11521440" cy="0"/>
          </a:xfrm>
          <a:prstGeom prst="line">
            <a:avLst/>
          </a:prstGeom>
          <a:noFill/>
          <a:ln w="7620">
            <a:solidFill>
              <a:srgbClr val="DDE3EA"/>
            </a:solidFill>
            <a:prstDash val="solid"/>
          </a:ln>
        </p:spPr>
      </p:sp>
      <p:sp>
        <p:nvSpPr>
          <p:cNvPr id="12" name="Text 10"/>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8. Сети, инфраструктуры и распределенная оптимизация</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Цена анархии: насколько плоха саморегуляция без правил</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18</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Цена анархии сравнивает худшее равновесие с оптимальным централизованным решением</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Высокая цена анархии означает, что локально рациональные агенты сильно портят общий результат</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Примеры: маршрутизация трафика, загрузка серверов, выбор каналов связи, очереди роботов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Меры снижения: ценообразование, лимиты, приоритеты, маршрутизация, штрафы за перегрузку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Метрика важна для обоснования, где нужен регулятор, а где достаточно самоорганизации</a:t>
            </a:r>
            <a:endParaRPr lang="en-US" sz="1550" dirty="0"/>
          </a:p>
        </p:txBody>
      </p:sp>
      <p:sp>
        <p:nvSpPr>
          <p:cNvPr id="7" name="Text 5"/>
          <p:cNvSpPr/>
          <p:nvPr/>
        </p:nvSpPr>
        <p:spPr>
          <a:xfrm>
            <a:off x="6903720" y="2788920"/>
            <a:ext cx="914400" cy="50292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000" b="1" dirty="0">
                <a:solidFill>
                  <a:srgbClr val="1C2430"/>
                </a:solidFill>
              </a:rPr>
              <a:t>источник</a:t>
            </a:r>
            <a:endParaRPr lang="en-US" sz="1000" dirty="0"/>
          </a:p>
        </p:txBody>
      </p:sp>
      <p:sp>
        <p:nvSpPr>
          <p:cNvPr id="8" name="Text 6"/>
          <p:cNvSpPr/>
          <p:nvPr/>
        </p:nvSpPr>
        <p:spPr>
          <a:xfrm>
            <a:off x="10012680" y="2788920"/>
            <a:ext cx="914400" cy="50292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000" b="1" dirty="0">
                <a:solidFill>
                  <a:srgbClr val="1C2430"/>
                </a:solidFill>
              </a:rPr>
              <a:t>цель</a:t>
            </a:r>
            <a:endParaRPr lang="en-US" sz="1000" dirty="0"/>
          </a:p>
        </p:txBody>
      </p:sp>
      <p:sp>
        <p:nvSpPr>
          <p:cNvPr id="9" name="Text 7"/>
          <p:cNvSpPr/>
          <p:nvPr/>
        </p:nvSpPr>
        <p:spPr>
          <a:xfrm>
            <a:off x="6995160" y="3749040"/>
            <a:ext cx="3840480" cy="274320"/>
          </a:xfrm>
          <a:prstGeom prst="rect">
            <a:avLst/>
          </a:prstGeom>
          <a:noFill/>
          <a:ln/>
        </p:spPr>
        <p:txBody>
          <a:bodyPr wrap="square" lIns="0" tIns="0" rIns="0" bIns="0" rtlCol="0" anchor="ctr">
            <a:normAutofit/>
          </a:bodyPr>
          <a:lstStyle/>
          <a:p>
            <a:pPr algn="ctr" indent="0" marL="0">
              <a:buNone/>
            </a:pPr>
            <a:r>
              <a:rPr lang="en-US" sz="1100" dirty="0">
                <a:solidFill>
                  <a:srgbClr val="1C2430"/>
                </a:solidFill>
              </a:rPr>
              <a:t>маршруты конкурируют за пропускную способность</a:t>
            </a:r>
            <a:endParaRPr lang="en-US" sz="1100" dirty="0"/>
          </a:p>
        </p:txBody>
      </p:sp>
      <p:sp>
        <p:nvSpPr>
          <p:cNvPr id="10" name="Shape 8"/>
          <p:cNvSpPr/>
          <p:nvPr/>
        </p:nvSpPr>
        <p:spPr>
          <a:xfrm>
            <a:off x="320040" y="6473952"/>
            <a:ext cx="11521440" cy="0"/>
          </a:xfrm>
          <a:prstGeom prst="line">
            <a:avLst/>
          </a:prstGeom>
          <a:noFill/>
          <a:ln w="7620">
            <a:solidFill>
              <a:srgbClr val="DDE3EA"/>
            </a:solidFill>
            <a:prstDash val="solid"/>
          </a:ln>
        </p:spPr>
      </p:sp>
      <p:sp>
        <p:nvSpPr>
          <p:cNvPr id="11" name="Text 9"/>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Nisan et al., Algorithmic Game Theory; Roughgarden, Twenty Lectures on Algorithmic Game Theory; Easley &amp; Kleinberg, Networks, Crowds, and Markets</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8. Сети, инфраструктуры и распределенная оптимизация</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Консенсус и распределенная координация</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19</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Консенсусные протоколы нужны, когда агенты должны согласовать значение, план или состояние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отличие от классической оптимизации, агенты видят только соседей и локальные данные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Теория игр добавляет вопрос стимулов: выгодно ли агенту передавать честную информацию?</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Возможны Byzantine-агенты, задержки, шум, неполная связность графа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Инженерный вывод: координация требует и алгоритма, и модели недоверия</a:t>
            </a:r>
            <a:endParaRPr lang="en-US" sz="1550" dirty="0"/>
          </a:p>
        </p:txBody>
      </p:sp>
      <p:sp>
        <p:nvSpPr>
          <p:cNvPr id="7" name="Text 5"/>
          <p:cNvSpPr/>
          <p:nvPr/>
        </p:nvSpPr>
        <p:spPr>
          <a:xfrm>
            <a:off x="9006840" y="1554480"/>
            <a:ext cx="868680" cy="475488"/>
          </a:xfrm>
          <a:prstGeom prst="rect">
            <a:avLst/>
          </a:prstGeom>
          <a:solidFill>
            <a:srgbClr val="102A43"/>
          </a:solidFill>
          <a:ln w="12700">
            <a:solidFill>
              <a:srgbClr val="102A43"/>
            </a:solidFill>
          </a:ln>
        </p:spPr>
        <p:txBody>
          <a:bodyPr wrap="square" lIns="254" tIns="254" rIns="254" bIns="254" rtlCol="0" anchor="ctr">
            <a:normAutofit/>
          </a:bodyPr>
          <a:lstStyle/>
          <a:p>
            <a:pPr algn="ctr" indent="0" marL="0">
              <a:buNone/>
            </a:pPr>
            <a:r>
              <a:rPr lang="en-US" sz="800" b="1" dirty="0">
                <a:solidFill>
                  <a:srgbClr val="FFFFFF"/>
                </a:solidFill>
              </a:rPr>
              <a:t>Среда</a:t>
            </a:r>
            <a:endParaRPr lang="en-US" sz="800" dirty="0"/>
          </a:p>
        </p:txBody>
      </p:sp>
      <p:sp>
        <p:nvSpPr>
          <p:cNvPr id="8" name="Text 6"/>
          <p:cNvSpPr/>
          <p:nvPr/>
        </p:nvSpPr>
        <p:spPr>
          <a:xfrm>
            <a:off x="6995160" y="3145536"/>
            <a:ext cx="868680" cy="475488"/>
          </a:xfrm>
          <a:prstGeom prst="rect">
            <a:avLst/>
          </a:prstGeom>
          <a:solidFill>
            <a:srgbClr val="246BFE"/>
          </a:solidFill>
          <a:ln w="12700">
            <a:solidFill>
              <a:srgbClr val="246BFE"/>
            </a:solidFill>
          </a:ln>
        </p:spPr>
        <p:txBody>
          <a:bodyPr wrap="square" lIns="254" tIns="254" rIns="254" bIns="254" rtlCol="0" anchor="ctr">
            <a:normAutofit/>
          </a:bodyPr>
          <a:lstStyle/>
          <a:p>
            <a:pPr algn="ctr" indent="0" marL="0">
              <a:buNone/>
            </a:pPr>
            <a:r>
              <a:rPr lang="en-US" sz="800" b="1" dirty="0">
                <a:solidFill>
                  <a:srgbClr val="FFFFFF"/>
                </a:solidFill>
              </a:rPr>
              <a:t>Агент A</a:t>
            </a:r>
            <a:endParaRPr lang="en-US" sz="800" dirty="0"/>
          </a:p>
        </p:txBody>
      </p:sp>
      <p:sp>
        <p:nvSpPr>
          <p:cNvPr id="9" name="Text 7"/>
          <p:cNvSpPr/>
          <p:nvPr/>
        </p:nvSpPr>
        <p:spPr>
          <a:xfrm>
            <a:off x="8655710" y="3337560"/>
            <a:ext cx="868680" cy="475488"/>
          </a:xfrm>
          <a:prstGeom prst="rect">
            <a:avLst/>
          </a:prstGeom>
          <a:solidFill>
            <a:srgbClr val="7048E8"/>
          </a:solidFill>
          <a:ln w="12700">
            <a:solidFill>
              <a:srgbClr val="7048E8"/>
            </a:solidFill>
          </a:ln>
        </p:spPr>
        <p:txBody>
          <a:bodyPr wrap="square" lIns="254" tIns="254" rIns="254" bIns="254" rtlCol="0" anchor="ctr">
            <a:normAutofit/>
          </a:bodyPr>
          <a:lstStyle/>
          <a:p>
            <a:pPr algn="ctr" indent="0" marL="0">
              <a:buNone/>
            </a:pPr>
            <a:r>
              <a:rPr lang="en-US" sz="800" b="1" dirty="0">
                <a:solidFill>
                  <a:srgbClr val="FFFFFF"/>
                </a:solidFill>
              </a:rPr>
              <a:t>Агент B</a:t>
            </a:r>
            <a:endParaRPr lang="en-US" sz="800" dirty="0"/>
          </a:p>
        </p:txBody>
      </p:sp>
      <p:sp>
        <p:nvSpPr>
          <p:cNvPr id="10" name="Text 8"/>
          <p:cNvSpPr/>
          <p:nvPr/>
        </p:nvSpPr>
        <p:spPr>
          <a:xfrm>
            <a:off x="9972446" y="3030322"/>
            <a:ext cx="868680" cy="475488"/>
          </a:xfrm>
          <a:prstGeom prst="rect">
            <a:avLst/>
          </a:prstGeom>
          <a:solidFill>
            <a:srgbClr val="2F9E44"/>
          </a:solidFill>
          <a:ln w="12700">
            <a:solidFill>
              <a:srgbClr val="2F9E44"/>
            </a:solidFill>
          </a:ln>
        </p:spPr>
        <p:txBody>
          <a:bodyPr wrap="square" lIns="254" tIns="254" rIns="254" bIns="254" rtlCol="0" anchor="ctr">
            <a:normAutofit/>
          </a:bodyPr>
          <a:lstStyle/>
          <a:p>
            <a:pPr algn="ctr" indent="0" marL="0">
              <a:buNone/>
            </a:pPr>
            <a:r>
              <a:rPr lang="en-US" sz="800" b="1" dirty="0">
                <a:solidFill>
                  <a:srgbClr val="FFFFFF"/>
                </a:solidFill>
              </a:rPr>
              <a:t>Агент C</a:t>
            </a:r>
            <a:endParaRPr lang="en-US" sz="800" dirty="0"/>
          </a:p>
        </p:txBody>
      </p:sp>
      <p:sp>
        <p:nvSpPr>
          <p:cNvPr id="11" name="Text 9"/>
          <p:cNvSpPr/>
          <p:nvPr/>
        </p:nvSpPr>
        <p:spPr>
          <a:xfrm>
            <a:off x="9226296" y="4681728"/>
            <a:ext cx="868680" cy="475488"/>
          </a:xfrm>
          <a:prstGeom prst="rect">
            <a:avLst/>
          </a:prstGeom>
          <a:solidFill>
            <a:srgbClr val="F59F00"/>
          </a:solidFill>
          <a:ln w="12700">
            <a:solidFill>
              <a:srgbClr val="F59F00"/>
            </a:solidFill>
          </a:ln>
        </p:spPr>
        <p:txBody>
          <a:bodyPr wrap="square" lIns="254" tIns="254" rIns="254" bIns="254" rtlCol="0" anchor="ctr">
            <a:normAutofit/>
          </a:bodyPr>
          <a:lstStyle/>
          <a:p>
            <a:pPr algn="ctr" indent="0" marL="0">
              <a:buNone/>
            </a:pPr>
            <a:r>
              <a:rPr lang="en-US" sz="800" b="1" dirty="0">
                <a:solidFill>
                  <a:srgbClr val="FFFFFF"/>
                </a:solidFill>
              </a:rPr>
              <a:t>Ресурс</a:t>
            </a:r>
            <a:endParaRPr lang="en-US" sz="8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9. Обучение и адаптация стратегий</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Стохастические игры: среда меняется после каждого действия</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20</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Стохастическая игра объединяет игру нескольких агентов и динамику состояний среды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Действия агентов влияют на переходы состояния и будущие выигрыши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Применения: роботы, трафик, энергосистемы, складская логистика, кибероборона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Ключевые сложности: большое пространство состояний, частичная наблюдаемость, нестационарность других агентов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Это естественная модель для multi-agent reinforcement learning</a:t>
            </a:r>
            <a:endParaRPr lang="en-US" sz="1550" dirty="0"/>
          </a:p>
        </p:txBody>
      </p:sp>
      <p:sp>
        <p:nvSpPr>
          <p:cNvPr id="7" name="Text 5"/>
          <p:cNvSpPr/>
          <p:nvPr/>
        </p:nvSpPr>
        <p:spPr>
          <a:xfrm>
            <a:off x="6812280" y="1965960"/>
            <a:ext cx="713232" cy="585216"/>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наблюдение</a:t>
            </a:r>
            <a:endParaRPr lang="en-US" sz="1000" dirty="0"/>
          </a:p>
        </p:txBody>
      </p:sp>
      <p:sp>
        <p:nvSpPr>
          <p:cNvPr id="8" name="Text 6"/>
          <p:cNvSpPr/>
          <p:nvPr/>
        </p:nvSpPr>
        <p:spPr>
          <a:xfrm>
            <a:off x="7680960" y="1965960"/>
            <a:ext cx="713232" cy="585216"/>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выбор</a:t>
            </a:r>
            <a:endParaRPr lang="en-US" sz="1000" dirty="0"/>
          </a:p>
        </p:txBody>
      </p:sp>
      <p:sp>
        <p:nvSpPr>
          <p:cNvPr id="9" name="Text 7"/>
          <p:cNvSpPr/>
          <p:nvPr/>
        </p:nvSpPr>
        <p:spPr>
          <a:xfrm>
            <a:off x="8549640" y="1965960"/>
            <a:ext cx="713232" cy="585216"/>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действие</a:t>
            </a:r>
            <a:endParaRPr lang="en-US" sz="1000" dirty="0"/>
          </a:p>
        </p:txBody>
      </p:sp>
      <p:sp>
        <p:nvSpPr>
          <p:cNvPr id="10" name="Text 8"/>
          <p:cNvSpPr/>
          <p:nvPr/>
        </p:nvSpPr>
        <p:spPr>
          <a:xfrm>
            <a:off x="9418320" y="1965960"/>
            <a:ext cx="713232" cy="585216"/>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ответ</a:t>
            </a:r>
            <a:endParaRPr lang="en-US" sz="1000" dirty="0"/>
          </a:p>
        </p:txBody>
      </p:sp>
      <p:sp>
        <p:nvSpPr>
          <p:cNvPr id="11" name="Text 9"/>
          <p:cNvSpPr/>
          <p:nvPr/>
        </p:nvSpPr>
        <p:spPr>
          <a:xfrm>
            <a:off x="10287000" y="1965960"/>
            <a:ext cx="713232" cy="585216"/>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обновление</a:t>
            </a:r>
            <a:endParaRPr lang="en-US" sz="10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Wooldridge; Nisan et al.; Roughgarden; современные материалы по MARL и MAS</a:t>
            </a:r>
            <a:endParaRPr lang="en-US" sz="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9. Обучение и адаптация стратегий</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Многоагентное обучение с подкреплением</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21</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MARL обучает политики нескольких агентов через взаимодействие со средой и друг с другом</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Проблема: для каждого агента среда становится нестационарной, потому что другие агенты тоже учатся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Схемы: independent learners, centralized training with decentralized execution, actor-critic, self-play</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Игровой анализ помогает интерпретировать устойчивость, кооперацию, эксплуатацию и равновесия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Для практики важны симуляторы, логирование и контроль безопасного обучения</a:t>
            </a:r>
            <a:endParaRPr lang="en-US" sz="1550" dirty="0"/>
          </a:p>
        </p:txBody>
      </p:sp>
      <p:sp>
        <p:nvSpPr>
          <p:cNvPr id="7" name="Text 5"/>
          <p:cNvSpPr/>
          <p:nvPr/>
        </p:nvSpPr>
        <p:spPr>
          <a:xfrm>
            <a:off x="6812280" y="1645920"/>
            <a:ext cx="3931920" cy="393192"/>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политики агентов πᵢ</a:t>
            </a:r>
            <a:endParaRPr lang="en-US" sz="900" dirty="0"/>
          </a:p>
        </p:txBody>
      </p:sp>
      <p:sp>
        <p:nvSpPr>
          <p:cNvPr id="8" name="Text 6"/>
          <p:cNvSpPr/>
          <p:nvPr/>
        </p:nvSpPr>
        <p:spPr>
          <a:xfrm>
            <a:off x="7040880" y="2121408"/>
            <a:ext cx="3474720" cy="393192"/>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совместная среда</a:t>
            </a:r>
            <a:endParaRPr lang="en-US" sz="900" dirty="0"/>
          </a:p>
        </p:txBody>
      </p:sp>
      <p:sp>
        <p:nvSpPr>
          <p:cNvPr id="9" name="Text 7"/>
          <p:cNvSpPr/>
          <p:nvPr/>
        </p:nvSpPr>
        <p:spPr>
          <a:xfrm>
            <a:off x="7269480" y="2596896"/>
            <a:ext cx="3017520" cy="393192"/>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награды rᵢ</a:t>
            </a:r>
            <a:endParaRPr lang="en-US" sz="900" dirty="0"/>
          </a:p>
        </p:txBody>
      </p:sp>
      <p:sp>
        <p:nvSpPr>
          <p:cNvPr id="10" name="Text 8"/>
          <p:cNvSpPr/>
          <p:nvPr/>
        </p:nvSpPr>
        <p:spPr>
          <a:xfrm>
            <a:off x="7498080" y="3072384"/>
            <a:ext cx="2560320" cy="393192"/>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критик / value</a:t>
            </a:r>
            <a:endParaRPr lang="en-US" sz="900" dirty="0"/>
          </a:p>
        </p:txBody>
      </p:sp>
      <p:sp>
        <p:nvSpPr>
          <p:cNvPr id="11" name="Text 9"/>
          <p:cNvSpPr/>
          <p:nvPr/>
        </p:nvSpPr>
        <p:spPr>
          <a:xfrm>
            <a:off x="7726680" y="3547872"/>
            <a:ext cx="2103120" cy="393192"/>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обновление параметров</a:t>
            </a:r>
            <a:endParaRPr lang="en-US" sz="9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Wooldridge; Nisan et al.; Roughgarden; современные материалы по MARL и MAS</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9. Обучение и адаптация стратегий</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Self-play: агент учится на противнике, которым является он сам</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22</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Self-play создает учебную среду, где агент соревнуется с копиями или версиями самого себя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Сильная сторона: можно генерировать бесконечный поток стратегически сложных сценариев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Риск: переобучение на собственный стиль и появление хрупких стратегий</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MAS полезно для переговоров, кибербезопасности, игр, торгов и симуляции конфликтов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Нужны популяции противников, архивы политик и внешние тесты</a:t>
            </a:r>
            <a:endParaRPr lang="en-US" sz="1550" dirty="0"/>
          </a:p>
        </p:txBody>
      </p:sp>
      <p:sp>
        <p:nvSpPr>
          <p:cNvPr id="7" name="Shape 5"/>
          <p:cNvSpPr/>
          <p:nvPr/>
        </p:nvSpPr>
        <p:spPr>
          <a:xfrm>
            <a:off x="6812280" y="2240280"/>
            <a:ext cx="4297680" cy="0"/>
          </a:xfrm>
          <a:prstGeom prst="line">
            <a:avLst/>
          </a:prstGeom>
          <a:noFill/>
          <a:ln w="25400">
            <a:solidFill>
              <a:srgbClr val="A0AEC0"/>
            </a:solidFill>
            <a:prstDash val="solid"/>
          </a:ln>
        </p:spPr>
      </p:sp>
      <p:sp>
        <p:nvSpPr>
          <p:cNvPr id="8" name="Shape 6"/>
          <p:cNvSpPr/>
          <p:nvPr/>
        </p:nvSpPr>
        <p:spPr>
          <a:xfrm>
            <a:off x="6720840" y="2148840"/>
            <a:ext cx="201168" cy="201168"/>
          </a:xfrm>
          <a:prstGeom prst="ellipse">
            <a:avLst/>
          </a:prstGeom>
          <a:solidFill>
            <a:srgbClr val="246BFE"/>
          </a:solidFill>
          <a:ln w="12700">
            <a:solidFill>
              <a:srgbClr val="FFFFFF"/>
            </a:solidFill>
            <a:prstDash val="solid"/>
          </a:ln>
        </p:spPr>
      </p:sp>
      <p:sp>
        <p:nvSpPr>
          <p:cNvPr id="9" name="Text 7"/>
          <p:cNvSpPr/>
          <p:nvPr/>
        </p:nvSpPr>
        <p:spPr>
          <a:xfrm>
            <a:off x="640080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t=1</a:t>
            </a:r>
            <a:endParaRPr lang="en-US" sz="720" dirty="0"/>
          </a:p>
          <a:p>
            <a:pPr algn="ctr" indent="0" marL="0">
              <a:buNone/>
            </a:pPr>
            <a:r>
              <a:rPr lang="en-US" sz="720" b="1" dirty="0">
                <a:solidFill>
                  <a:srgbClr val="1C2430"/>
                </a:solidFill>
              </a:rPr>
              <a:t>сигнал</a:t>
            </a:r>
            <a:endParaRPr lang="en-US" sz="720" dirty="0"/>
          </a:p>
        </p:txBody>
      </p:sp>
      <p:sp>
        <p:nvSpPr>
          <p:cNvPr id="10" name="Shape 8"/>
          <p:cNvSpPr/>
          <p:nvPr/>
        </p:nvSpPr>
        <p:spPr>
          <a:xfrm>
            <a:off x="7795260" y="2148840"/>
            <a:ext cx="201168" cy="201168"/>
          </a:xfrm>
          <a:prstGeom prst="ellipse">
            <a:avLst/>
          </a:prstGeom>
          <a:solidFill>
            <a:srgbClr val="7048E8"/>
          </a:solidFill>
          <a:ln w="12700">
            <a:solidFill>
              <a:srgbClr val="FFFFFF"/>
            </a:solidFill>
            <a:prstDash val="solid"/>
          </a:ln>
        </p:spPr>
      </p:sp>
      <p:sp>
        <p:nvSpPr>
          <p:cNvPr id="11" name="Text 9"/>
          <p:cNvSpPr/>
          <p:nvPr/>
        </p:nvSpPr>
        <p:spPr>
          <a:xfrm>
            <a:off x="747522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t=2</a:t>
            </a:r>
            <a:endParaRPr lang="en-US" sz="720" dirty="0"/>
          </a:p>
          <a:p>
            <a:pPr algn="ctr" indent="0" marL="0">
              <a:buNone/>
            </a:pPr>
            <a:r>
              <a:rPr lang="en-US" sz="720" b="1" dirty="0">
                <a:solidFill>
                  <a:srgbClr val="1C2430"/>
                </a:solidFill>
              </a:rPr>
              <a:t>ответ</a:t>
            </a:r>
            <a:endParaRPr lang="en-US" sz="720" dirty="0"/>
          </a:p>
        </p:txBody>
      </p:sp>
      <p:sp>
        <p:nvSpPr>
          <p:cNvPr id="12" name="Shape 10"/>
          <p:cNvSpPr/>
          <p:nvPr/>
        </p:nvSpPr>
        <p:spPr>
          <a:xfrm>
            <a:off x="8869680" y="2148840"/>
            <a:ext cx="201168" cy="201168"/>
          </a:xfrm>
          <a:prstGeom prst="ellipse">
            <a:avLst/>
          </a:prstGeom>
          <a:solidFill>
            <a:srgbClr val="2F9E44"/>
          </a:solidFill>
          <a:ln w="12700">
            <a:solidFill>
              <a:srgbClr val="FFFFFF"/>
            </a:solidFill>
            <a:prstDash val="solid"/>
          </a:ln>
        </p:spPr>
      </p:sp>
      <p:sp>
        <p:nvSpPr>
          <p:cNvPr id="13" name="Text 11"/>
          <p:cNvSpPr/>
          <p:nvPr/>
        </p:nvSpPr>
        <p:spPr>
          <a:xfrm>
            <a:off x="854964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t=3</a:t>
            </a:r>
            <a:endParaRPr lang="en-US" sz="720" dirty="0"/>
          </a:p>
          <a:p>
            <a:pPr algn="ctr" indent="0" marL="0">
              <a:buNone/>
            </a:pPr>
            <a:r>
              <a:rPr lang="en-US" sz="720" b="1" dirty="0">
                <a:solidFill>
                  <a:srgbClr val="1C2430"/>
                </a:solidFill>
              </a:rPr>
              <a:t>наказание</a:t>
            </a:r>
            <a:endParaRPr lang="en-US" sz="720" dirty="0"/>
          </a:p>
        </p:txBody>
      </p:sp>
      <p:sp>
        <p:nvSpPr>
          <p:cNvPr id="14" name="Shape 12"/>
          <p:cNvSpPr/>
          <p:nvPr/>
        </p:nvSpPr>
        <p:spPr>
          <a:xfrm>
            <a:off x="9944100" y="2148840"/>
            <a:ext cx="201168" cy="201168"/>
          </a:xfrm>
          <a:prstGeom prst="ellipse">
            <a:avLst/>
          </a:prstGeom>
          <a:solidFill>
            <a:srgbClr val="F59F00"/>
          </a:solidFill>
          <a:ln w="12700">
            <a:solidFill>
              <a:srgbClr val="FFFFFF"/>
            </a:solidFill>
            <a:prstDash val="solid"/>
          </a:ln>
        </p:spPr>
      </p:sp>
      <p:sp>
        <p:nvSpPr>
          <p:cNvPr id="15" name="Text 13"/>
          <p:cNvSpPr/>
          <p:nvPr/>
        </p:nvSpPr>
        <p:spPr>
          <a:xfrm>
            <a:off x="962406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t=4</a:t>
            </a:r>
            <a:endParaRPr lang="en-US" sz="720" dirty="0"/>
          </a:p>
          <a:p>
            <a:pPr algn="ctr" indent="0" marL="0">
              <a:buNone/>
            </a:pPr>
            <a:r>
              <a:rPr lang="en-US" sz="720" b="1" dirty="0">
                <a:solidFill>
                  <a:srgbClr val="1C2430"/>
                </a:solidFill>
              </a:rPr>
              <a:t>прощение</a:t>
            </a:r>
            <a:endParaRPr lang="en-US" sz="720" dirty="0"/>
          </a:p>
        </p:txBody>
      </p:sp>
      <p:sp>
        <p:nvSpPr>
          <p:cNvPr id="16" name="Shape 14"/>
          <p:cNvSpPr/>
          <p:nvPr/>
        </p:nvSpPr>
        <p:spPr>
          <a:xfrm>
            <a:off x="11018520" y="2148840"/>
            <a:ext cx="201168" cy="201168"/>
          </a:xfrm>
          <a:prstGeom prst="ellipse">
            <a:avLst/>
          </a:prstGeom>
          <a:solidFill>
            <a:srgbClr val="E03131"/>
          </a:solidFill>
          <a:ln w="12700">
            <a:solidFill>
              <a:srgbClr val="FFFFFF"/>
            </a:solidFill>
            <a:prstDash val="solid"/>
          </a:ln>
        </p:spPr>
      </p:sp>
      <p:sp>
        <p:nvSpPr>
          <p:cNvPr id="17" name="Text 15"/>
          <p:cNvSpPr/>
          <p:nvPr/>
        </p:nvSpPr>
        <p:spPr>
          <a:xfrm>
            <a:off x="1069848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t=n</a:t>
            </a:r>
            <a:endParaRPr lang="en-US" sz="720" dirty="0"/>
          </a:p>
          <a:p>
            <a:pPr algn="ctr" indent="0" marL="0">
              <a:buNone/>
            </a:pPr>
            <a:r>
              <a:rPr lang="en-US" sz="720" b="1" dirty="0">
                <a:solidFill>
                  <a:srgbClr val="1C2430"/>
                </a:solidFill>
              </a:rPr>
              <a:t>норма</a:t>
            </a:r>
            <a:endParaRPr lang="en-US" sz="720" dirty="0"/>
          </a:p>
        </p:txBody>
      </p:sp>
      <p:sp>
        <p:nvSpPr>
          <p:cNvPr id="18" name="Shape 16"/>
          <p:cNvSpPr/>
          <p:nvPr/>
        </p:nvSpPr>
        <p:spPr>
          <a:xfrm>
            <a:off x="320040" y="6473952"/>
            <a:ext cx="11521440" cy="0"/>
          </a:xfrm>
          <a:prstGeom prst="line">
            <a:avLst/>
          </a:prstGeom>
          <a:noFill/>
          <a:ln w="7620">
            <a:solidFill>
              <a:srgbClr val="DDE3EA"/>
            </a:solidFill>
            <a:prstDash val="solid"/>
          </a:ln>
        </p:spPr>
      </p:sp>
      <p:sp>
        <p:nvSpPr>
          <p:cNvPr id="19" name="Text 17"/>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Wooldridge; Nisan et al.; Roughgarden; современные материалы по MARL и MAS</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10. Безопасность и доверие</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Игры безопасности: защитник, атакующий и ограниченные ресурсы</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23</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Защитник распределяет ограниченные проверки, патрули, мониторинг или вычислительные ресурсы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Атакующий наблюдает паттерны и выбирает уязвимую точку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Смешанные стратегии и сигналы снижают предсказуемость защиты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Применения: кибербезопасность, физическая охрана, антифрод, защита API, модерация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 LLM-агентах это включает prompt injection, tool abuse и утечки данных</a:t>
            </a:r>
            <a:endParaRPr lang="en-US" sz="1550" dirty="0"/>
          </a:p>
        </p:txBody>
      </p:sp>
      <p:sp>
        <p:nvSpPr>
          <p:cNvPr id="7" name="Text 5"/>
          <p:cNvSpPr/>
          <p:nvPr/>
        </p:nvSpPr>
        <p:spPr>
          <a:xfrm>
            <a:off x="6812280" y="1627632"/>
            <a:ext cx="4251960" cy="228600"/>
          </a:xfrm>
          <a:prstGeom prst="rect">
            <a:avLst/>
          </a:prstGeom>
          <a:noFill/>
          <a:ln/>
        </p:spPr>
        <p:txBody>
          <a:bodyPr wrap="square" lIns="0" tIns="0" rIns="0" bIns="0" rtlCol="0" anchor="ctr"/>
          <a:lstStyle/>
          <a:p>
            <a:pPr algn="ctr" indent="0" marL="0">
              <a:buNone/>
            </a:pPr>
            <a:r>
              <a:rPr lang="en-US" sz="1100" b="1" dirty="0">
                <a:solidFill>
                  <a:srgbClr val="607080"/>
                </a:solidFill>
              </a:rPr>
              <a:t>Защитник × атакующий</a:t>
            </a:r>
            <a:endParaRPr lang="en-US" sz="1100" dirty="0"/>
          </a:p>
        </p:txBody>
      </p:sp>
      <p:sp>
        <p:nvSpPr>
          <p:cNvPr id="8" name="Text 6"/>
          <p:cNvSpPr/>
          <p:nvPr/>
        </p:nvSpPr>
        <p:spPr>
          <a:xfrm>
            <a:off x="681228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endParaRPr lang="en-US" sz="900" dirty="0"/>
          </a:p>
        </p:txBody>
      </p:sp>
      <p:sp>
        <p:nvSpPr>
          <p:cNvPr id="9" name="Text 7"/>
          <p:cNvSpPr/>
          <p:nvPr/>
        </p:nvSpPr>
        <p:spPr>
          <a:xfrm>
            <a:off x="822960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a1</a:t>
            </a:r>
            <a:endParaRPr lang="en-US" sz="900" dirty="0"/>
          </a:p>
        </p:txBody>
      </p:sp>
      <p:sp>
        <p:nvSpPr>
          <p:cNvPr id="10" name="Text 8"/>
          <p:cNvSpPr/>
          <p:nvPr/>
        </p:nvSpPr>
        <p:spPr>
          <a:xfrm>
            <a:off x="964692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a2</a:t>
            </a:r>
            <a:endParaRPr lang="en-US" sz="900" dirty="0"/>
          </a:p>
        </p:txBody>
      </p:sp>
      <p:sp>
        <p:nvSpPr>
          <p:cNvPr id="11" name="Text 9"/>
          <p:cNvSpPr/>
          <p:nvPr/>
        </p:nvSpPr>
        <p:spPr>
          <a:xfrm>
            <a:off x="6812280" y="252603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a1</a:t>
            </a:r>
            <a:endParaRPr lang="en-US" sz="900" dirty="0"/>
          </a:p>
        </p:txBody>
      </p:sp>
      <p:sp>
        <p:nvSpPr>
          <p:cNvPr id="12" name="Text 10"/>
          <p:cNvSpPr/>
          <p:nvPr/>
        </p:nvSpPr>
        <p:spPr>
          <a:xfrm>
            <a:off x="8229600" y="2526030"/>
            <a:ext cx="1417320" cy="60579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5,-5</a:t>
            </a:r>
            <a:endParaRPr lang="en-US" sz="1200" dirty="0"/>
          </a:p>
        </p:txBody>
      </p:sp>
      <p:sp>
        <p:nvSpPr>
          <p:cNvPr id="13" name="Text 11"/>
          <p:cNvSpPr/>
          <p:nvPr/>
        </p:nvSpPr>
        <p:spPr>
          <a:xfrm>
            <a:off x="9646920" y="2526030"/>
            <a:ext cx="1417320" cy="605790"/>
          </a:xfrm>
          <a:prstGeom prst="rect">
            <a:avLst/>
          </a:prstGeom>
          <a:solidFill>
            <a:srgbClr val="EAF7E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0,0</a:t>
            </a:r>
            <a:endParaRPr lang="en-US" sz="1200" dirty="0"/>
          </a:p>
        </p:txBody>
      </p:sp>
      <p:sp>
        <p:nvSpPr>
          <p:cNvPr id="14" name="Text 12"/>
          <p:cNvSpPr/>
          <p:nvPr/>
        </p:nvSpPr>
        <p:spPr>
          <a:xfrm>
            <a:off x="6812280" y="313182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a2</a:t>
            </a:r>
            <a:endParaRPr lang="en-US" sz="900" dirty="0"/>
          </a:p>
        </p:txBody>
      </p:sp>
      <p:sp>
        <p:nvSpPr>
          <p:cNvPr id="15" name="Text 13"/>
          <p:cNvSpPr/>
          <p:nvPr/>
        </p:nvSpPr>
        <p:spPr>
          <a:xfrm>
            <a:off x="8229600" y="3131820"/>
            <a:ext cx="1417320" cy="605790"/>
          </a:xfrm>
          <a:prstGeom prst="rect">
            <a:avLst/>
          </a:prstGeom>
          <a:solidFill>
            <a:srgbClr val="EAF7E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2,-2</a:t>
            </a:r>
            <a:endParaRPr lang="en-US" sz="1200" dirty="0"/>
          </a:p>
        </p:txBody>
      </p:sp>
      <p:sp>
        <p:nvSpPr>
          <p:cNvPr id="16" name="Text 14"/>
          <p:cNvSpPr/>
          <p:nvPr/>
        </p:nvSpPr>
        <p:spPr>
          <a:xfrm>
            <a:off x="9646920" y="3131820"/>
            <a:ext cx="1417320" cy="60579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4,-4</a:t>
            </a:r>
            <a:endParaRPr lang="en-US" sz="1200" dirty="0"/>
          </a:p>
        </p:txBody>
      </p:sp>
      <p:sp>
        <p:nvSpPr>
          <p:cNvPr id="17" name="Text 15"/>
          <p:cNvSpPr/>
          <p:nvPr/>
        </p:nvSpPr>
        <p:spPr>
          <a:xfrm>
            <a:off x="6812280" y="373761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a3</a:t>
            </a:r>
            <a:endParaRPr lang="en-US" sz="900" dirty="0"/>
          </a:p>
        </p:txBody>
      </p:sp>
      <p:sp>
        <p:nvSpPr>
          <p:cNvPr id="18" name="Text 16"/>
          <p:cNvSpPr/>
          <p:nvPr/>
        </p:nvSpPr>
        <p:spPr>
          <a:xfrm>
            <a:off x="8229600" y="3737610"/>
            <a:ext cx="1417320" cy="60579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1,-1</a:t>
            </a:r>
            <a:endParaRPr lang="en-US" sz="1200" dirty="0"/>
          </a:p>
        </p:txBody>
      </p:sp>
      <p:sp>
        <p:nvSpPr>
          <p:cNvPr id="19" name="Text 17"/>
          <p:cNvSpPr/>
          <p:nvPr/>
        </p:nvSpPr>
        <p:spPr>
          <a:xfrm>
            <a:off x="9646920" y="3737610"/>
            <a:ext cx="1417320" cy="60579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3,-3</a:t>
            </a:r>
            <a:endParaRPr lang="en-US" sz="1200" dirty="0"/>
          </a:p>
        </p:txBody>
      </p:sp>
      <p:sp>
        <p:nvSpPr>
          <p:cNvPr id="20" name="Shape 18"/>
          <p:cNvSpPr/>
          <p:nvPr/>
        </p:nvSpPr>
        <p:spPr>
          <a:xfrm>
            <a:off x="320040" y="6473952"/>
            <a:ext cx="11521440" cy="0"/>
          </a:xfrm>
          <a:prstGeom prst="line">
            <a:avLst/>
          </a:prstGeom>
          <a:noFill/>
          <a:ln w="7620">
            <a:solidFill>
              <a:srgbClr val="DDE3EA"/>
            </a:solidFill>
            <a:prstDash val="solid"/>
          </a:ln>
        </p:spPr>
      </p:sp>
      <p:sp>
        <p:nvSpPr>
          <p:cNvPr id="21" name="Text 19"/>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10. Безопасность и доверие</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Доверие и репутация как игровые механизмы</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24</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Доверие снижает транзакционные издержки, но создает риск эксплуатации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Репутация связывает текущее поведение агента с будущим доступом к задачам и ресурсам</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Система репутации должна учитывать качество, сроки, честность сообщений и соблюдение политики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Уязвимости: накрутка рейтинга, Sybil-атаки, сговор, наказание конкурентов ложными отзывами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Нужны проверяемые события, вес недавних взаимодействий и санкции за манипуляции</a:t>
            </a:r>
            <a:endParaRPr lang="en-US" sz="1550" dirty="0"/>
          </a:p>
        </p:txBody>
      </p:sp>
      <p:sp>
        <p:nvSpPr>
          <p:cNvPr id="7" name="Shape 5"/>
          <p:cNvSpPr/>
          <p:nvPr/>
        </p:nvSpPr>
        <p:spPr>
          <a:xfrm>
            <a:off x="6812280" y="2240280"/>
            <a:ext cx="4297680" cy="0"/>
          </a:xfrm>
          <a:prstGeom prst="line">
            <a:avLst/>
          </a:prstGeom>
          <a:noFill/>
          <a:ln w="25400">
            <a:solidFill>
              <a:srgbClr val="A0AEC0"/>
            </a:solidFill>
            <a:prstDash val="solid"/>
          </a:ln>
        </p:spPr>
      </p:sp>
      <p:sp>
        <p:nvSpPr>
          <p:cNvPr id="8" name="Shape 6"/>
          <p:cNvSpPr/>
          <p:nvPr/>
        </p:nvSpPr>
        <p:spPr>
          <a:xfrm>
            <a:off x="6720840" y="2148840"/>
            <a:ext cx="201168" cy="201168"/>
          </a:xfrm>
          <a:prstGeom prst="ellipse">
            <a:avLst/>
          </a:prstGeom>
          <a:solidFill>
            <a:srgbClr val="246BFE"/>
          </a:solidFill>
          <a:ln w="12700">
            <a:solidFill>
              <a:srgbClr val="FFFFFF"/>
            </a:solidFill>
            <a:prstDash val="solid"/>
          </a:ln>
        </p:spPr>
      </p:sp>
      <p:sp>
        <p:nvSpPr>
          <p:cNvPr id="9" name="Text 7"/>
          <p:cNvSpPr/>
          <p:nvPr/>
        </p:nvSpPr>
        <p:spPr>
          <a:xfrm>
            <a:off x="640080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t=1</a:t>
            </a:r>
            <a:endParaRPr lang="en-US" sz="720" dirty="0"/>
          </a:p>
          <a:p>
            <a:pPr algn="ctr" indent="0" marL="0">
              <a:buNone/>
            </a:pPr>
            <a:r>
              <a:rPr lang="en-US" sz="720" b="1" dirty="0">
                <a:solidFill>
                  <a:srgbClr val="1C2430"/>
                </a:solidFill>
              </a:rPr>
              <a:t>сигнал</a:t>
            </a:r>
            <a:endParaRPr lang="en-US" sz="720" dirty="0"/>
          </a:p>
        </p:txBody>
      </p:sp>
      <p:sp>
        <p:nvSpPr>
          <p:cNvPr id="10" name="Shape 8"/>
          <p:cNvSpPr/>
          <p:nvPr/>
        </p:nvSpPr>
        <p:spPr>
          <a:xfrm>
            <a:off x="7795260" y="2148840"/>
            <a:ext cx="201168" cy="201168"/>
          </a:xfrm>
          <a:prstGeom prst="ellipse">
            <a:avLst/>
          </a:prstGeom>
          <a:solidFill>
            <a:srgbClr val="7048E8"/>
          </a:solidFill>
          <a:ln w="12700">
            <a:solidFill>
              <a:srgbClr val="FFFFFF"/>
            </a:solidFill>
            <a:prstDash val="solid"/>
          </a:ln>
        </p:spPr>
      </p:sp>
      <p:sp>
        <p:nvSpPr>
          <p:cNvPr id="11" name="Text 9"/>
          <p:cNvSpPr/>
          <p:nvPr/>
        </p:nvSpPr>
        <p:spPr>
          <a:xfrm>
            <a:off x="747522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t=2</a:t>
            </a:r>
            <a:endParaRPr lang="en-US" sz="720" dirty="0"/>
          </a:p>
          <a:p>
            <a:pPr algn="ctr" indent="0" marL="0">
              <a:buNone/>
            </a:pPr>
            <a:r>
              <a:rPr lang="en-US" sz="720" b="1" dirty="0">
                <a:solidFill>
                  <a:srgbClr val="1C2430"/>
                </a:solidFill>
              </a:rPr>
              <a:t>ответ</a:t>
            </a:r>
            <a:endParaRPr lang="en-US" sz="720" dirty="0"/>
          </a:p>
        </p:txBody>
      </p:sp>
      <p:sp>
        <p:nvSpPr>
          <p:cNvPr id="12" name="Shape 10"/>
          <p:cNvSpPr/>
          <p:nvPr/>
        </p:nvSpPr>
        <p:spPr>
          <a:xfrm>
            <a:off x="8869680" y="2148840"/>
            <a:ext cx="201168" cy="201168"/>
          </a:xfrm>
          <a:prstGeom prst="ellipse">
            <a:avLst/>
          </a:prstGeom>
          <a:solidFill>
            <a:srgbClr val="2F9E44"/>
          </a:solidFill>
          <a:ln w="12700">
            <a:solidFill>
              <a:srgbClr val="FFFFFF"/>
            </a:solidFill>
            <a:prstDash val="solid"/>
          </a:ln>
        </p:spPr>
      </p:sp>
      <p:sp>
        <p:nvSpPr>
          <p:cNvPr id="13" name="Text 11"/>
          <p:cNvSpPr/>
          <p:nvPr/>
        </p:nvSpPr>
        <p:spPr>
          <a:xfrm>
            <a:off x="854964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t=3</a:t>
            </a:r>
            <a:endParaRPr lang="en-US" sz="720" dirty="0"/>
          </a:p>
          <a:p>
            <a:pPr algn="ctr" indent="0" marL="0">
              <a:buNone/>
            </a:pPr>
            <a:r>
              <a:rPr lang="en-US" sz="720" b="1" dirty="0">
                <a:solidFill>
                  <a:srgbClr val="1C2430"/>
                </a:solidFill>
              </a:rPr>
              <a:t>наказание</a:t>
            </a:r>
            <a:endParaRPr lang="en-US" sz="720" dirty="0"/>
          </a:p>
        </p:txBody>
      </p:sp>
      <p:sp>
        <p:nvSpPr>
          <p:cNvPr id="14" name="Shape 12"/>
          <p:cNvSpPr/>
          <p:nvPr/>
        </p:nvSpPr>
        <p:spPr>
          <a:xfrm>
            <a:off x="9944100" y="2148840"/>
            <a:ext cx="201168" cy="201168"/>
          </a:xfrm>
          <a:prstGeom prst="ellipse">
            <a:avLst/>
          </a:prstGeom>
          <a:solidFill>
            <a:srgbClr val="F59F00"/>
          </a:solidFill>
          <a:ln w="12700">
            <a:solidFill>
              <a:srgbClr val="FFFFFF"/>
            </a:solidFill>
            <a:prstDash val="solid"/>
          </a:ln>
        </p:spPr>
      </p:sp>
      <p:sp>
        <p:nvSpPr>
          <p:cNvPr id="15" name="Text 13"/>
          <p:cNvSpPr/>
          <p:nvPr/>
        </p:nvSpPr>
        <p:spPr>
          <a:xfrm>
            <a:off x="962406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t=4</a:t>
            </a:r>
            <a:endParaRPr lang="en-US" sz="720" dirty="0"/>
          </a:p>
          <a:p>
            <a:pPr algn="ctr" indent="0" marL="0">
              <a:buNone/>
            </a:pPr>
            <a:r>
              <a:rPr lang="en-US" sz="720" b="1" dirty="0">
                <a:solidFill>
                  <a:srgbClr val="1C2430"/>
                </a:solidFill>
              </a:rPr>
              <a:t>прощение</a:t>
            </a:r>
            <a:endParaRPr lang="en-US" sz="720" dirty="0"/>
          </a:p>
        </p:txBody>
      </p:sp>
      <p:sp>
        <p:nvSpPr>
          <p:cNvPr id="16" name="Shape 14"/>
          <p:cNvSpPr/>
          <p:nvPr/>
        </p:nvSpPr>
        <p:spPr>
          <a:xfrm>
            <a:off x="11018520" y="2148840"/>
            <a:ext cx="201168" cy="201168"/>
          </a:xfrm>
          <a:prstGeom prst="ellipse">
            <a:avLst/>
          </a:prstGeom>
          <a:solidFill>
            <a:srgbClr val="E03131"/>
          </a:solidFill>
          <a:ln w="12700">
            <a:solidFill>
              <a:srgbClr val="FFFFFF"/>
            </a:solidFill>
            <a:prstDash val="solid"/>
          </a:ln>
        </p:spPr>
      </p:sp>
      <p:sp>
        <p:nvSpPr>
          <p:cNvPr id="17" name="Text 15"/>
          <p:cNvSpPr/>
          <p:nvPr/>
        </p:nvSpPr>
        <p:spPr>
          <a:xfrm>
            <a:off x="10698480" y="2514600"/>
            <a:ext cx="822960" cy="502920"/>
          </a:xfrm>
          <a:prstGeom prst="rect">
            <a:avLst/>
          </a:prstGeom>
          <a:noFill/>
          <a:ln/>
        </p:spPr>
        <p:txBody>
          <a:bodyPr wrap="square" lIns="0" tIns="0" rIns="0" bIns="0" rtlCol="0" anchor="ctr">
            <a:normAutofit/>
          </a:bodyPr>
          <a:lstStyle/>
          <a:p>
            <a:pPr algn="ctr" indent="0" marL="0">
              <a:buNone/>
            </a:pPr>
            <a:r>
              <a:rPr lang="en-US" sz="720" b="1" dirty="0">
                <a:solidFill>
                  <a:srgbClr val="1C2430"/>
                </a:solidFill>
              </a:rPr>
              <a:t>t=n</a:t>
            </a:r>
            <a:endParaRPr lang="en-US" sz="720" dirty="0"/>
          </a:p>
          <a:p>
            <a:pPr algn="ctr" indent="0" marL="0">
              <a:buNone/>
            </a:pPr>
            <a:r>
              <a:rPr lang="en-US" sz="720" b="1" dirty="0">
                <a:solidFill>
                  <a:srgbClr val="1C2430"/>
                </a:solidFill>
              </a:rPr>
              <a:t>норма</a:t>
            </a:r>
            <a:endParaRPr lang="en-US" sz="720" dirty="0"/>
          </a:p>
        </p:txBody>
      </p:sp>
      <p:sp>
        <p:nvSpPr>
          <p:cNvPr id="18" name="Shape 16"/>
          <p:cNvSpPr/>
          <p:nvPr/>
        </p:nvSpPr>
        <p:spPr>
          <a:xfrm>
            <a:off x="320040" y="6473952"/>
            <a:ext cx="11521440" cy="0"/>
          </a:xfrm>
          <a:prstGeom prst="line">
            <a:avLst/>
          </a:prstGeom>
          <a:noFill/>
          <a:ln w="7620">
            <a:solidFill>
              <a:srgbClr val="DDE3EA"/>
            </a:solidFill>
            <a:prstDash val="solid"/>
          </a:ln>
        </p:spPr>
      </p:sp>
      <p:sp>
        <p:nvSpPr>
          <p:cNvPr id="19" name="Text 17"/>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10. Безопасность и доверие</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Блокчейн и смарт-контракты: автоматизация обязательств</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25</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Распределенный реестр может фиксировать историю сделок и снижать зависимость от центрального доверенного узла</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Смарт-контракт превращает часть правил игры в исполняемый код</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Применения: рынки ресурсов агентов, гарантии платежей, аудит действий, автоматическое исполнение штрафов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Ограничения: оракулы, стоимость транзакций, необратимость ошибок, юридическая неопределенность</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Главный принцип: формализуйте только то, что можно проверить и исполнить</a:t>
            </a:r>
            <a:endParaRPr lang="en-US" sz="1550" dirty="0"/>
          </a:p>
        </p:txBody>
      </p:sp>
      <p:sp>
        <p:nvSpPr>
          <p:cNvPr id="7" name="Text 5"/>
          <p:cNvSpPr/>
          <p:nvPr/>
        </p:nvSpPr>
        <p:spPr>
          <a:xfrm>
            <a:off x="6812280" y="1828800"/>
            <a:ext cx="713232" cy="585216"/>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типы</a:t>
            </a:r>
            <a:endParaRPr lang="en-US" sz="1000" dirty="0"/>
          </a:p>
        </p:txBody>
      </p:sp>
      <p:sp>
        <p:nvSpPr>
          <p:cNvPr id="8" name="Text 6"/>
          <p:cNvSpPr/>
          <p:nvPr/>
        </p:nvSpPr>
        <p:spPr>
          <a:xfrm>
            <a:off x="7680960" y="1828800"/>
            <a:ext cx="713232" cy="585216"/>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сообщения</a:t>
            </a:r>
            <a:endParaRPr lang="en-US" sz="1000" dirty="0"/>
          </a:p>
        </p:txBody>
      </p:sp>
      <p:sp>
        <p:nvSpPr>
          <p:cNvPr id="9" name="Text 7"/>
          <p:cNvSpPr/>
          <p:nvPr/>
        </p:nvSpPr>
        <p:spPr>
          <a:xfrm>
            <a:off x="8549640" y="1828800"/>
            <a:ext cx="713232" cy="585216"/>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правило</a:t>
            </a:r>
            <a:endParaRPr lang="en-US" sz="1000" dirty="0"/>
          </a:p>
        </p:txBody>
      </p:sp>
      <p:sp>
        <p:nvSpPr>
          <p:cNvPr id="10" name="Text 8"/>
          <p:cNvSpPr/>
          <p:nvPr/>
        </p:nvSpPr>
        <p:spPr>
          <a:xfrm>
            <a:off x="9418320" y="1828800"/>
            <a:ext cx="713232" cy="585216"/>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платежи</a:t>
            </a:r>
            <a:endParaRPr lang="en-US" sz="1000" dirty="0"/>
          </a:p>
        </p:txBody>
      </p:sp>
      <p:sp>
        <p:nvSpPr>
          <p:cNvPr id="11" name="Text 9"/>
          <p:cNvSpPr/>
          <p:nvPr/>
        </p:nvSpPr>
        <p:spPr>
          <a:xfrm>
            <a:off x="10287000" y="1828800"/>
            <a:ext cx="713232" cy="585216"/>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исход</a:t>
            </a:r>
            <a:endParaRPr lang="en-US" sz="10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11. Прикладные сценарии</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Транспортные и робототехнические MAS</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26</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Задачи: распределение маршрутов, избегание конфликтов, приоритеты, зарядка, доступ к узким зонам</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Игровые модели: congestion games, аукционы задач, коалиции, стохастические игры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Метрики: время выполнения, безопасность, энергия, пропускная способность, fairness</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Механизмы: плата за перегрузку, светофорные сигналы, локальные переговоры, диспетчерские рекомендации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Риск: локально оптимальные маршруты могут создавать глобальные пробки</a:t>
            </a:r>
            <a:endParaRPr lang="en-US" sz="1550" dirty="0"/>
          </a:p>
        </p:txBody>
      </p:sp>
      <p:sp>
        <p:nvSpPr>
          <p:cNvPr id="7" name="Text 5"/>
          <p:cNvSpPr/>
          <p:nvPr/>
        </p:nvSpPr>
        <p:spPr>
          <a:xfrm>
            <a:off x="6903720" y="2788920"/>
            <a:ext cx="914400" cy="50292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000" b="1" dirty="0">
                <a:solidFill>
                  <a:srgbClr val="1C2430"/>
                </a:solidFill>
              </a:rPr>
              <a:t>источник</a:t>
            </a:r>
            <a:endParaRPr lang="en-US" sz="1000" dirty="0"/>
          </a:p>
        </p:txBody>
      </p:sp>
      <p:sp>
        <p:nvSpPr>
          <p:cNvPr id="8" name="Text 6"/>
          <p:cNvSpPr/>
          <p:nvPr/>
        </p:nvSpPr>
        <p:spPr>
          <a:xfrm>
            <a:off x="10012680" y="2788920"/>
            <a:ext cx="914400" cy="50292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000" b="1" dirty="0">
                <a:solidFill>
                  <a:srgbClr val="1C2430"/>
                </a:solidFill>
              </a:rPr>
              <a:t>цель</a:t>
            </a:r>
            <a:endParaRPr lang="en-US" sz="1000" dirty="0"/>
          </a:p>
        </p:txBody>
      </p:sp>
      <p:sp>
        <p:nvSpPr>
          <p:cNvPr id="9" name="Text 7"/>
          <p:cNvSpPr/>
          <p:nvPr/>
        </p:nvSpPr>
        <p:spPr>
          <a:xfrm>
            <a:off x="6995160" y="3749040"/>
            <a:ext cx="3840480" cy="274320"/>
          </a:xfrm>
          <a:prstGeom prst="rect">
            <a:avLst/>
          </a:prstGeom>
          <a:noFill/>
          <a:ln/>
        </p:spPr>
        <p:txBody>
          <a:bodyPr wrap="square" lIns="0" tIns="0" rIns="0" bIns="0" rtlCol="0" anchor="ctr">
            <a:normAutofit/>
          </a:bodyPr>
          <a:lstStyle/>
          <a:p>
            <a:pPr algn="ctr" indent="0" marL="0">
              <a:buNone/>
            </a:pPr>
            <a:r>
              <a:rPr lang="en-US" sz="1100" dirty="0">
                <a:solidFill>
                  <a:srgbClr val="1C2430"/>
                </a:solidFill>
              </a:rPr>
              <a:t>маршруты конкурируют за пропускную способность</a:t>
            </a:r>
            <a:endParaRPr lang="en-US" sz="1100" dirty="0"/>
          </a:p>
        </p:txBody>
      </p:sp>
      <p:sp>
        <p:nvSpPr>
          <p:cNvPr id="10" name="Shape 8"/>
          <p:cNvSpPr/>
          <p:nvPr/>
        </p:nvSpPr>
        <p:spPr>
          <a:xfrm>
            <a:off x="320040" y="6473952"/>
            <a:ext cx="11521440" cy="0"/>
          </a:xfrm>
          <a:prstGeom prst="line">
            <a:avLst/>
          </a:prstGeom>
          <a:noFill/>
          <a:ln w="7620">
            <a:solidFill>
              <a:srgbClr val="DDE3EA"/>
            </a:solidFill>
            <a:prstDash val="solid"/>
          </a:ln>
        </p:spPr>
      </p:sp>
      <p:sp>
        <p:nvSpPr>
          <p:cNvPr id="11" name="Text 9"/>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11. Прикладные сценарии</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Умные сети и распределенная энергетика</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27</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Агенты-поставщики, потребители и накопители энергии взаимодействуют на локальном рынке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Динамические цены и аукционы помогают балансировать спрос и предложение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Игровые риски: манипуляция прогнозами, удержание мощности, сговор, перегрузка сети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Механизмы должны учитывать физические ограничения, надежность и штрафы за невыполнение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MAS-архитектура соединяет прогнозирование, рынок и управление в реальном времени</a:t>
            </a:r>
            <a:endParaRPr lang="en-US" sz="1550" dirty="0"/>
          </a:p>
        </p:txBody>
      </p:sp>
      <p:sp>
        <p:nvSpPr>
          <p:cNvPr id="7" name="Text 5"/>
          <p:cNvSpPr/>
          <p:nvPr/>
        </p:nvSpPr>
        <p:spPr>
          <a:xfrm>
            <a:off x="8458200" y="1645920"/>
            <a:ext cx="1554480" cy="502920"/>
          </a:xfrm>
          <a:prstGeom prst="rect">
            <a:avLst/>
          </a:prstGeom>
          <a:solidFill>
            <a:srgbClr val="F1EDFF"/>
          </a:solidFill>
          <a:ln w="12700">
            <a:solidFill>
              <a:srgbClr val="C2B5FF"/>
            </a:solidFill>
          </a:ln>
        </p:spPr>
        <p:txBody>
          <a:bodyPr wrap="square" lIns="635" tIns="635" rIns="635" bIns="635" rtlCol="0" anchor="ctr">
            <a:normAutofit/>
          </a:bodyPr>
          <a:lstStyle/>
          <a:p>
            <a:pPr algn="ctr" indent="0" marL="0">
              <a:buNone/>
            </a:pPr>
            <a:r>
              <a:rPr lang="en-US" sz="1000" b="1" dirty="0">
                <a:solidFill>
                  <a:srgbClr val="1C2430"/>
                </a:solidFill>
              </a:rPr>
              <a:t>задача / ресурс</a:t>
            </a:r>
            <a:endParaRPr lang="en-US" sz="1000" dirty="0"/>
          </a:p>
        </p:txBody>
      </p:sp>
      <p:sp>
        <p:nvSpPr>
          <p:cNvPr id="8" name="Text 6"/>
          <p:cNvSpPr/>
          <p:nvPr/>
        </p:nvSpPr>
        <p:spPr>
          <a:xfrm>
            <a:off x="6812280" y="2560320"/>
            <a:ext cx="1234440" cy="548640"/>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1</a:t>
            </a:r>
            <a:endParaRPr lang="en-US" sz="1000" dirty="0"/>
          </a:p>
          <a:p>
            <a:pPr algn="ctr" indent="0" marL="0">
              <a:buNone/>
            </a:pPr>
            <a:r>
              <a:rPr lang="en-US" sz="1000" b="1" dirty="0">
                <a:solidFill>
                  <a:srgbClr val="1C2430"/>
                </a:solidFill>
              </a:rPr>
              <a:t>ставка b1</a:t>
            </a:r>
            <a:endParaRPr lang="en-US" sz="1000" dirty="0"/>
          </a:p>
        </p:txBody>
      </p:sp>
      <p:sp>
        <p:nvSpPr>
          <p:cNvPr id="9" name="Text 7"/>
          <p:cNvSpPr/>
          <p:nvPr/>
        </p:nvSpPr>
        <p:spPr>
          <a:xfrm>
            <a:off x="8412480" y="2560320"/>
            <a:ext cx="1234440" cy="548640"/>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2</a:t>
            </a:r>
            <a:endParaRPr lang="en-US" sz="1000" dirty="0"/>
          </a:p>
          <a:p>
            <a:pPr algn="ctr" indent="0" marL="0">
              <a:buNone/>
            </a:pPr>
            <a:r>
              <a:rPr lang="en-US" sz="1000" b="1" dirty="0">
                <a:solidFill>
                  <a:srgbClr val="1C2430"/>
                </a:solidFill>
              </a:rPr>
              <a:t>ставка b2</a:t>
            </a:r>
            <a:endParaRPr lang="en-US" sz="1000" dirty="0"/>
          </a:p>
        </p:txBody>
      </p:sp>
      <p:sp>
        <p:nvSpPr>
          <p:cNvPr id="10" name="Text 8"/>
          <p:cNvSpPr/>
          <p:nvPr/>
        </p:nvSpPr>
        <p:spPr>
          <a:xfrm>
            <a:off x="10012680" y="2560320"/>
            <a:ext cx="1234440" cy="548640"/>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3</a:t>
            </a:r>
            <a:endParaRPr lang="en-US" sz="1000" dirty="0"/>
          </a:p>
          <a:p>
            <a:pPr algn="ctr" indent="0" marL="0">
              <a:buNone/>
            </a:pPr>
            <a:r>
              <a:rPr lang="en-US" sz="1000" b="1" dirty="0">
                <a:solidFill>
                  <a:srgbClr val="1C2430"/>
                </a:solidFill>
              </a:rPr>
              <a:t>ставка b3</a:t>
            </a:r>
            <a:endParaRPr lang="en-US" sz="1000" dirty="0"/>
          </a:p>
        </p:txBody>
      </p:sp>
      <p:sp>
        <p:nvSpPr>
          <p:cNvPr id="11" name="Text 9"/>
          <p:cNvSpPr/>
          <p:nvPr/>
        </p:nvSpPr>
        <p:spPr>
          <a:xfrm>
            <a:off x="8412480" y="3520440"/>
            <a:ext cx="1645920" cy="502920"/>
          </a:xfrm>
          <a:prstGeom prst="rect">
            <a:avLst/>
          </a:prstGeom>
          <a:solidFill>
            <a:srgbClr val="FFFFFF"/>
          </a:solidFill>
          <a:ln w="12700">
            <a:solidFill>
              <a:srgbClr val="246BFE"/>
            </a:solidFill>
          </a:ln>
        </p:spPr>
        <p:txBody>
          <a:bodyPr wrap="square" lIns="635" tIns="635" rIns="635" bIns="635" rtlCol="0" anchor="ctr">
            <a:normAutofit/>
          </a:bodyPr>
          <a:lstStyle/>
          <a:p>
            <a:pPr algn="ctr" indent="0" marL="0">
              <a:buNone/>
            </a:pPr>
            <a:r>
              <a:rPr lang="en-US" sz="1000" b="1" dirty="0">
                <a:solidFill>
                  <a:srgbClr val="1C2430"/>
                </a:solidFill>
              </a:rPr>
              <a:t>правило</a:t>
            </a:r>
            <a:endParaRPr lang="en-US" sz="1000" dirty="0"/>
          </a:p>
          <a:p>
            <a:pPr algn="ctr" indent="0" marL="0">
              <a:buNone/>
            </a:pPr>
            <a:r>
              <a:rPr lang="en-US" sz="1000" b="1" dirty="0">
                <a:solidFill>
                  <a:srgbClr val="1C2430"/>
                </a:solidFill>
              </a:rPr>
              <a:t>выбора</a:t>
            </a:r>
            <a:endParaRPr lang="en-US" sz="1000" dirty="0"/>
          </a:p>
        </p:txBody>
      </p:sp>
      <p:sp>
        <p:nvSpPr>
          <p:cNvPr id="12" name="Text 10"/>
          <p:cNvSpPr/>
          <p:nvPr/>
        </p:nvSpPr>
        <p:spPr>
          <a:xfrm>
            <a:off x="8293608" y="4251960"/>
            <a:ext cx="1874520" cy="50292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000" b="1" dirty="0">
                <a:solidFill>
                  <a:srgbClr val="1C2430"/>
                </a:solidFill>
              </a:rPr>
              <a:t>контракт + платеж</a:t>
            </a:r>
            <a:endParaRPr lang="en-US" sz="1000" dirty="0"/>
          </a:p>
        </p:txBody>
      </p:sp>
      <p:sp>
        <p:nvSpPr>
          <p:cNvPr id="13" name="Shape 11"/>
          <p:cNvSpPr/>
          <p:nvPr/>
        </p:nvSpPr>
        <p:spPr>
          <a:xfrm>
            <a:off x="320040" y="6473952"/>
            <a:ext cx="11521440" cy="0"/>
          </a:xfrm>
          <a:prstGeom prst="line">
            <a:avLst/>
          </a:prstGeom>
          <a:noFill/>
          <a:ln w="7620">
            <a:solidFill>
              <a:srgbClr val="DDE3EA"/>
            </a:solidFill>
            <a:prstDash val="solid"/>
          </a:ln>
        </p:spPr>
      </p:sp>
      <p:sp>
        <p:nvSpPr>
          <p:cNvPr id="14" name="Text 12"/>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Nisan et al., Algorithmic Game Theory; Roughgarden, Twenty Lectures on Algorithmic Game Theory; Easley &amp; Kleinberg, Networks, Crowds, and Markets</a:t>
            </a:r>
            <a:endParaRPr lang="en-US" sz="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11. Прикладные сценарии</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Облака, edge computing и вычислительные рынки</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28</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Агенты сервисов конкурируют за CPU, GPU, память, канал, данные и приоритет очереди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Распределение ресурсов можно рассматривать как игру с ограничениями и платежами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Механизмы: квоты, spot-инстансы, приоритетные очереди, аукционы, SLA-штрафы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Игровая проблема: сервисы могут завышать потребности или скрывать реальные ограничения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Нужны наблюдаемость, cost accounting и автоматическая проверка заявок</a:t>
            </a:r>
            <a:endParaRPr lang="en-US" sz="1550" dirty="0"/>
          </a:p>
        </p:txBody>
      </p:sp>
      <p:sp>
        <p:nvSpPr>
          <p:cNvPr id="7" name="Text 5"/>
          <p:cNvSpPr/>
          <p:nvPr/>
        </p:nvSpPr>
        <p:spPr>
          <a:xfrm>
            <a:off x="6812280" y="1600200"/>
            <a:ext cx="3931920" cy="393192"/>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модель игры</a:t>
            </a:r>
            <a:endParaRPr lang="en-US" sz="900" dirty="0"/>
          </a:p>
        </p:txBody>
      </p:sp>
      <p:sp>
        <p:nvSpPr>
          <p:cNvPr id="8" name="Text 6"/>
          <p:cNvSpPr/>
          <p:nvPr/>
        </p:nvSpPr>
        <p:spPr>
          <a:xfrm>
            <a:off x="7040880" y="2075688"/>
            <a:ext cx="3474720" cy="393192"/>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симулятор среды</a:t>
            </a:r>
            <a:endParaRPr lang="en-US" sz="900" dirty="0"/>
          </a:p>
        </p:txBody>
      </p:sp>
      <p:sp>
        <p:nvSpPr>
          <p:cNvPr id="9" name="Text 7"/>
          <p:cNvSpPr/>
          <p:nvPr/>
        </p:nvSpPr>
        <p:spPr>
          <a:xfrm>
            <a:off x="7269480" y="2551176"/>
            <a:ext cx="3017520" cy="393192"/>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поиск равновесия</a:t>
            </a:r>
            <a:endParaRPr lang="en-US" sz="900" dirty="0"/>
          </a:p>
        </p:txBody>
      </p:sp>
      <p:sp>
        <p:nvSpPr>
          <p:cNvPr id="10" name="Text 8"/>
          <p:cNvSpPr/>
          <p:nvPr/>
        </p:nvSpPr>
        <p:spPr>
          <a:xfrm>
            <a:off x="7498080" y="3026664"/>
            <a:ext cx="2560320" cy="393192"/>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протокол / API</a:t>
            </a:r>
            <a:endParaRPr lang="en-US" sz="900" dirty="0"/>
          </a:p>
        </p:txBody>
      </p:sp>
      <p:sp>
        <p:nvSpPr>
          <p:cNvPr id="11" name="Text 9"/>
          <p:cNvSpPr/>
          <p:nvPr/>
        </p:nvSpPr>
        <p:spPr>
          <a:xfrm>
            <a:off x="7726680" y="3502152"/>
            <a:ext cx="2103120" cy="393192"/>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мониторинг и аудит</a:t>
            </a:r>
            <a:endParaRPr lang="en-US" sz="9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Nisan et al., Algorithmic Game Theory; Roughgarden, Twenty Lectures on Algorithmic Game Theory; Easley &amp; Kleinberg, Networks, Crowds, and Markets</a:t>
            </a:r>
            <a:endParaRPr lang="en-US" sz="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11. Прикладные сценарии</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LLM-агенты: новая среда стратегического взаимодействия</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29</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LLM-агенты могут делегировать, спорить, критиковать, проверять и выбирать инструменты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Их взаимодействие часто напоминает переговоры, комитеты, рынки задач и игры доверия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Новые риски: убедительная ложь, имитация компетентности, prompt injection, конфликт целей, tool abuse</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Игровой дизайн нужен для ролей: генератор, критик, валидатор, арбитр, исполнитель</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Итоговые решения должны опираться на проверяемые действия, а не только на текстовую уверенность</a:t>
            </a:r>
            <a:endParaRPr lang="en-US" sz="1550" dirty="0"/>
          </a:p>
        </p:txBody>
      </p:sp>
      <p:sp>
        <p:nvSpPr>
          <p:cNvPr id="7" name="Text 5"/>
          <p:cNvSpPr/>
          <p:nvPr/>
        </p:nvSpPr>
        <p:spPr>
          <a:xfrm>
            <a:off x="9006840" y="1554480"/>
            <a:ext cx="868680" cy="475488"/>
          </a:xfrm>
          <a:prstGeom prst="rect">
            <a:avLst/>
          </a:prstGeom>
          <a:solidFill>
            <a:srgbClr val="102A43"/>
          </a:solidFill>
          <a:ln w="12700">
            <a:solidFill>
              <a:srgbClr val="102A43"/>
            </a:solidFill>
          </a:ln>
        </p:spPr>
        <p:txBody>
          <a:bodyPr wrap="square" lIns="254" tIns="254" rIns="254" bIns="254" rtlCol="0" anchor="ctr">
            <a:normAutofit/>
          </a:bodyPr>
          <a:lstStyle/>
          <a:p>
            <a:pPr algn="ctr" indent="0" marL="0">
              <a:buNone/>
            </a:pPr>
            <a:r>
              <a:rPr lang="en-US" sz="800" b="1" dirty="0">
                <a:solidFill>
                  <a:srgbClr val="FFFFFF"/>
                </a:solidFill>
              </a:rPr>
              <a:t>Среда</a:t>
            </a:r>
            <a:endParaRPr lang="en-US" sz="800" dirty="0"/>
          </a:p>
        </p:txBody>
      </p:sp>
      <p:sp>
        <p:nvSpPr>
          <p:cNvPr id="8" name="Text 6"/>
          <p:cNvSpPr/>
          <p:nvPr/>
        </p:nvSpPr>
        <p:spPr>
          <a:xfrm>
            <a:off x="6995160" y="3145536"/>
            <a:ext cx="868680" cy="475488"/>
          </a:xfrm>
          <a:prstGeom prst="rect">
            <a:avLst/>
          </a:prstGeom>
          <a:solidFill>
            <a:srgbClr val="246BFE"/>
          </a:solidFill>
          <a:ln w="12700">
            <a:solidFill>
              <a:srgbClr val="246BFE"/>
            </a:solidFill>
          </a:ln>
        </p:spPr>
        <p:txBody>
          <a:bodyPr wrap="square" lIns="254" tIns="254" rIns="254" bIns="254" rtlCol="0" anchor="ctr">
            <a:normAutofit/>
          </a:bodyPr>
          <a:lstStyle/>
          <a:p>
            <a:pPr algn="ctr" indent="0" marL="0">
              <a:buNone/>
            </a:pPr>
            <a:r>
              <a:rPr lang="en-US" sz="800" b="1" dirty="0">
                <a:solidFill>
                  <a:srgbClr val="FFFFFF"/>
                </a:solidFill>
              </a:rPr>
              <a:t>Агент A</a:t>
            </a:r>
            <a:endParaRPr lang="en-US" sz="800" dirty="0"/>
          </a:p>
        </p:txBody>
      </p:sp>
      <p:sp>
        <p:nvSpPr>
          <p:cNvPr id="9" name="Text 7"/>
          <p:cNvSpPr/>
          <p:nvPr/>
        </p:nvSpPr>
        <p:spPr>
          <a:xfrm>
            <a:off x="8655710" y="3337560"/>
            <a:ext cx="868680" cy="475488"/>
          </a:xfrm>
          <a:prstGeom prst="rect">
            <a:avLst/>
          </a:prstGeom>
          <a:solidFill>
            <a:srgbClr val="7048E8"/>
          </a:solidFill>
          <a:ln w="12700">
            <a:solidFill>
              <a:srgbClr val="7048E8"/>
            </a:solidFill>
          </a:ln>
        </p:spPr>
        <p:txBody>
          <a:bodyPr wrap="square" lIns="254" tIns="254" rIns="254" bIns="254" rtlCol="0" anchor="ctr">
            <a:normAutofit/>
          </a:bodyPr>
          <a:lstStyle/>
          <a:p>
            <a:pPr algn="ctr" indent="0" marL="0">
              <a:buNone/>
            </a:pPr>
            <a:r>
              <a:rPr lang="en-US" sz="800" b="1" dirty="0">
                <a:solidFill>
                  <a:srgbClr val="FFFFFF"/>
                </a:solidFill>
              </a:rPr>
              <a:t>Агент B</a:t>
            </a:r>
            <a:endParaRPr lang="en-US" sz="800" dirty="0"/>
          </a:p>
        </p:txBody>
      </p:sp>
      <p:sp>
        <p:nvSpPr>
          <p:cNvPr id="10" name="Text 8"/>
          <p:cNvSpPr/>
          <p:nvPr/>
        </p:nvSpPr>
        <p:spPr>
          <a:xfrm>
            <a:off x="9972446" y="3030322"/>
            <a:ext cx="868680" cy="475488"/>
          </a:xfrm>
          <a:prstGeom prst="rect">
            <a:avLst/>
          </a:prstGeom>
          <a:solidFill>
            <a:srgbClr val="2F9E44"/>
          </a:solidFill>
          <a:ln w="12700">
            <a:solidFill>
              <a:srgbClr val="2F9E44"/>
            </a:solidFill>
          </a:ln>
        </p:spPr>
        <p:txBody>
          <a:bodyPr wrap="square" lIns="254" tIns="254" rIns="254" bIns="254" rtlCol="0" anchor="ctr">
            <a:normAutofit/>
          </a:bodyPr>
          <a:lstStyle/>
          <a:p>
            <a:pPr algn="ctr" indent="0" marL="0">
              <a:buNone/>
            </a:pPr>
            <a:r>
              <a:rPr lang="en-US" sz="800" b="1" dirty="0">
                <a:solidFill>
                  <a:srgbClr val="FFFFFF"/>
                </a:solidFill>
              </a:rPr>
              <a:t>Агент C</a:t>
            </a:r>
            <a:endParaRPr lang="en-US" sz="800" dirty="0"/>
          </a:p>
        </p:txBody>
      </p:sp>
      <p:sp>
        <p:nvSpPr>
          <p:cNvPr id="11" name="Text 9"/>
          <p:cNvSpPr/>
          <p:nvPr/>
        </p:nvSpPr>
        <p:spPr>
          <a:xfrm>
            <a:off x="9226296" y="4681728"/>
            <a:ext cx="868680" cy="475488"/>
          </a:xfrm>
          <a:prstGeom prst="rect">
            <a:avLst/>
          </a:prstGeom>
          <a:solidFill>
            <a:srgbClr val="F59F00"/>
          </a:solidFill>
          <a:ln w="12700">
            <a:solidFill>
              <a:srgbClr val="F59F00"/>
            </a:solidFill>
          </a:ln>
        </p:spPr>
        <p:txBody>
          <a:bodyPr wrap="square" lIns="254" tIns="254" rIns="254" bIns="254" rtlCol="0" anchor="ctr">
            <a:normAutofit/>
          </a:bodyPr>
          <a:lstStyle/>
          <a:p>
            <a:pPr algn="ctr" indent="0" marL="0">
              <a:buNone/>
            </a:pPr>
            <a:r>
              <a:rPr lang="en-US" sz="800" b="1" dirty="0">
                <a:solidFill>
                  <a:srgbClr val="FFFFFF"/>
                </a:solidFill>
              </a:rPr>
              <a:t>Ресурс</a:t>
            </a:r>
            <a:endParaRPr lang="en-US" sz="8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12. Проектирование и внедрение</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Инженерная процедура выбора игровой модели</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30</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1. Определить игроков: агенты, сервисы, люди, атакующие, регуляторы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2. Описать действия и информацию: кто что может сделать и что видит</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3. Задать выигрыш: метрики агента и метрики системы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4. Найти конфликт: где локальная рациональность расходится с глобальной целью</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5. Выбрать механизм: аукцион, голосование, штраф, репутация, контракт, координационный сигнал</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6. Проверить вычислимость, устойчивость и наблюдаемость</a:t>
            </a:r>
            <a:endParaRPr lang="en-US" sz="1550" dirty="0"/>
          </a:p>
        </p:txBody>
      </p:sp>
      <p:sp>
        <p:nvSpPr>
          <p:cNvPr id="7" name="Text 5"/>
          <p:cNvSpPr/>
          <p:nvPr/>
        </p:nvSpPr>
        <p:spPr>
          <a:xfrm>
            <a:off x="6812280" y="1600200"/>
            <a:ext cx="3931920" cy="393192"/>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модель игры</a:t>
            </a:r>
            <a:endParaRPr lang="en-US" sz="900" dirty="0"/>
          </a:p>
        </p:txBody>
      </p:sp>
      <p:sp>
        <p:nvSpPr>
          <p:cNvPr id="8" name="Text 6"/>
          <p:cNvSpPr/>
          <p:nvPr/>
        </p:nvSpPr>
        <p:spPr>
          <a:xfrm>
            <a:off x="7040880" y="2075688"/>
            <a:ext cx="3474720" cy="393192"/>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симулятор среды</a:t>
            </a:r>
            <a:endParaRPr lang="en-US" sz="900" dirty="0"/>
          </a:p>
        </p:txBody>
      </p:sp>
      <p:sp>
        <p:nvSpPr>
          <p:cNvPr id="9" name="Text 7"/>
          <p:cNvSpPr/>
          <p:nvPr/>
        </p:nvSpPr>
        <p:spPr>
          <a:xfrm>
            <a:off x="7269480" y="2551176"/>
            <a:ext cx="3017520" cy="393192"/>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поиск равновесия</a:t>
            </a:r>
            <a:endParaRPr lang="en-US" sz="900" dirty="0"/>
          </a:p>
        </p:txBody>
      </p:sp>
      <p:sp>
        <p:nvSpPr>
          <p:cNvPr id="10" name="Text 8"/>
          <p:cNvSpPr/>
          <p:nvPr/>
        </p:nvSpPr>
        <p:spPr>
          <a:xfrm>
            <a:off x="7498080" y="3026664"/>
            <a:ext cx="2560320" cy="393192"/>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протокол / API</a:t>
            </a:r>
            <a:endParaRPr lang="en-US" sz="900" dirty="0"/>
          </a:p>
        </p:txBody>
      </p:sp>
      <p:sp>
        <p:nvSpPr>
          <p:cNvPr id="11" name="Text 9"/>
          <p:cNvSpPr/>
          <p:nvPr/>
        </p:nvSpPr>
        <p:spPr>
          <a:xfrm>
            <a:off x="7726680" y="3502152"/>
            <a:ext cx="2103120" cy="393192"/>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мониторинг и аудит</a:t>
            </a:r>
            <a:endParaRPr lang="en-US" sz="9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12. Проектирование и внедрение</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Метрики качества игровых MAS</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31</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Эффективность: насколько близко система к оптимальному коллективному результату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Устойчивость: есть ли стимулы отклоняться, обманывать, сговариваться или саботировать</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Справедливость: не вытесняются ли слабые агенты и не возникает ли монополия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Робастность: что происходит при сбоях, атакующих агентах и шуме данных</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Объяснимость: можно ли показать, почему механизм выбрал этот исход</a:t>
            </a:r>
            <a:endParaRPr lang="en-US" sz="1550" dirty="0"/>
          </a:p>
        </p:txBody>
      </p:sp>
      <p:sp>
        <p:nvSpPr>
          <p:cNvPr id="7" name="Text 5"/>
          <p:cNvSpPr/>
          <p:nvPr/>
        </p:nvSpPr>
        <p:spPr>
          <a:xfrm>
            <a:off x="6812280" y="1645920"/>
            <a:ext cx="4297680" cy="228600"/>
          </a:xfrm>
          <a:prstGeom prst="rect">
            <a:avLst/>
          </a:prstGeom>
          <a:noFill/>
          <a:ln/>
        </p:spPr>
        <p:txBody>
          <a:bodyPr wrap="square" lIns="0" tIns="0" rIns="0" bIns="0" rtlCol="0" anchor="ctr"/>
          <a:lstStyle/>
          <a:p>
            <a:pPr algn="ctr" indent="0" marL="0">
              <a:buNone/>
            </a:pPr>
            <a:r>
              <a:rPr lang="en-US" sz="1100" b="1" dirty="0">
                <a:solidFill>
                  <a:srgbClr val="607080"/>
                </a:solidFill>
              </a:rPr>
              <a:t>Лучшие ответы и устойчивость</a:t>
            </a:r>
            <a:endParaRPr lang="en-US" sz="1100" dirty="0"/>
          </a:p>
        </p:txBody>
      </p:sp>
      <p:sp>
        <p:nvSpPr>
          <p:cNvPr id="8" name="Text 6"/>
          <p:cNvSpPr/>
          <p:nvPr/>
        </p:nvSpPr>
        <p:spPr>
          <a:xfrm>
            <a:off x="7040880" y="2240280"/>
            <a:ext cx="1417320" cy="658368"/>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000" b="1" dirty="0">
                <a:solidFill>
                  <a:srgbClr val="1C2430"/>
                </a:solidFill>
              </a:rPr>
              <a:t>стратегия A</a:t>
            </a:r>
            <a:endParaRPr lang="en-US" sz="1000" dirty="0"/>
          </a:p>
          <a:p>
            <a:pPr algn="ctr" indent="0" marL="0">
              <a:buNone/>
            </a:pPr>
            <a:r>
              <a:rPr lang="en-US" sz="1000" b="1" dirty="0">
                <a:solidFill>
                  <a:srgbClr val="1C2430"/>
                </a:solidFill>
              </a:rPr>
              <a:t>лучший ответ на B</a:t>
            </a:r>
            <a:endParaRPr lang="en-US" sz="1000" dirty="0"/>
          </a:p>
        </p:txBody>
      </p:sp>
      <p:sp>
        <p:nvSpPr>
          <p:cNvPr id="9" name="Text 7"/>
          <p:cNvSpPr/>
          <p:nvPr/>
        </p:nvSpPr>
        <p:spPr>
          <a:xfrm>
            <a:off x="9464040" y="2240280"/>
            <a:ext cx="1417320" cy="658368"/>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000" b="1" dirty="0">
                <a:solidFill>
                  <a:srgbClr val="1C2430"/>
                </a:solidFill>
              </a:rPr>
              <a:t>стратегия B</a:t>
            </a:r>
            <a:endParaRPr lang="en-US" sz="1000" dirty="0"/>
          </a:p>
          <a:p>
            <a:pPr algn="ctr" indent="0" marL="0">
              <a:buNone/>
            </a:pPr>
            <a:r>
              <a:rPr lang="en-US" sz="1000" b="1" dirty="0">
                <a:solidFill>
                  <a:srgbClr val="1C2430"/>
                </a:solidFill>
              </a:rPr>
              <a:t>лучший ответ на A</a:t>
            </a:r>
            <a:endParaRPr lang="en-US" sz="1000" dirty="0"/>
          </a:p>
        </p:txBody>
      </p:sp>
      <p:sp>
        <p:nvSpPr>
          <p:cNvPr id="10" name="Text 8"/>
          <p:cNvSpPr/>
          <p:nvPr/>
        </p:nvSpPr>
        <p:spPr>
          <a:xfrm>
            <a:off x="8595360" y="2377440"/>
            <a:ext cx="274320" cy="228600"/>
          </a:xfrm>
          <a:prstGeom prst="rect">
            <a:avLst/>
          </a:prstGeom>
          <a:noFill/>
          <a:ln/>
        </p:spPr>
        <p:txBody>
          <a:bodyPr wrap="square" lIns="0" tIns="0" rIns="0" bIns="0" rtlCol="0" anchor="ctr"/>
          <a:lstStyle/>
          <a:p>
            <a:pPr algn="ctr" indent="0" marL="0">
              <a:buNone/>
            </a:pPr>
            <a:r>
              <a:rPr lang="en-US" sz="1600" b="1" dirty="0">
                <a:solidFill>
                  <a:srgbClr val="607080"/>
                </a:solidFill>
              </a:rPr>
              <a:t>↘</a:t>
            </a:r>
            <a:endParaRPr lang="en-US" sz="1600" dirty="0"/>
          </a:p>
        </p:txBody>
      </p:sp>
      <p:sp>
        <p:nvSpPr>
          <p:cNvPr id="11" name="Text 9"/>
          <p:cNvSpPr/>
          <p:nvPr/>
        </p:nvSpPr>
        <p:spPr>
          <a:xfrm>
            <a:off x="9052560" y="2377440"/>
            <a:ext cx="274320" cy="228600"/>
          </a:xfrm>
          <a:prstGeom prst="rect">
            <a:avLst/>
          </a:prstGeom>
          <a:noFill/>
          <a:ln/>
        </p:spPr>
        <p:txBody>
          <a:bodyPr wrap="square" lIns="0" tIns="0" rIns="0" bIns="0" rtlCol="0" anchor="ctr"/>
          <a:lstStyle/>
          <a:p>
            <a:pPr algn="ctr" indent="0" marL="0">
              <a:buNone/>
            </a:pPr>
            <a:r>
              <a:rPr lang="en-US" sz="1600" b="1" dirty="0">
                <a:solidFill>
                  <a:srgbClr val="607080"/>
                </a:solidFill>
              </a:rPr>
              <a:t>↙</a:t>
            </a:r>
            <a:endParaRPr lang="en-US" sz="1600" dirty="0"/>
          </a:p>
        </p:txBody>
      </p:sp>
      <p:sp>
        <p:nvSpPr>
          <p:cNvPr id="12" name="Text 10"/>
          <p:cNvSpPr/>
          <p:nvPr/>
        </p:nvSpPr>
        <p:spPr>
          <a:xfrm>
            <a:off x="7909560" y="3291840"/>
            <a:ext cx="2331720" cy="685800"/>
          </a:xfrm>
          <a:prstGeom prst="rect">
            <a:avLst/>
          </a:prstGeom>
          <a:solidFill>
            <a:srgbClr val="FFE8E8"/>
          </a:solidFill>
          <a:ln w="12700">
            <a:solidFill>
              <a:srgbClr val="FFC2C2"/>
            </a:solidFill>
          </a:ln>
        </p:spPr>
        <p:txBody>
          <a:bodyPr wrap="square" lIns="635" tIns="635" rIns="635" bIns="635" rtlCol="0" anchor="ctr">
            <a:normAutofit/>
          </a:bodyPr>
          <a:lstStyle/>
          <a:p>
            <a:pPr algn="ctr" indent="0" marL="0">
              <a:buNone/>
            </a:pPr>
            <a:r>
              <a:rPr lang="en-US" sz="1200" b="1" dirty="0">
                <a:solidFill>
                  <a:srgbClr val="1C2430"/>
                </a:solidFill>
              </a:rPr>
              <a:t>равновесие:</a:t>
            </a:r>
            <a:endParaRPr lang="en-US" sz="1200" dirty="0"/>
          </a:p>
          <a:p>
            <a:pPr algn="ctr" indent="0" marL="0">
              <a:buNone/>
            </a:pPr>
            <a:r>
              <a:rPr lang="en-US" sz="1200" b="1" dirty="0">
                <a:solidFill>
                  <a:srgbClr val="1C2430"/>
                </a:solidFill>
              </a:rPr>
              <a:t>никому невыгодно отклоняться</a:t>
            </a:r>
            <a:endParaRPr lang="en-US" sz="1200" dirty="0"/>
          </a:p>
        </p:txBody>
      </p:sp>
      <p:sp>
        <p:nvSpPr>
          <p:cNvPr id="13" name="Text 11"/>
          <p:cNvSpPr/>
          <p:nvPr/>
        </p:nvSpPr>
        <p:spPr>
          <a:xfrm>
            <a:off x="7315200" y="4297680"/>
            <a:ext cx="3520440" cy="566928"/>
          </a:xfrm>
          <a:prstGeom prst="rect">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00" b="1" dirty="0">
                <a:solidFill>
                  <a:srgbClr val="1C2430"/>
                </a:solidFill>
              </a:rPr>
              <a:t>проверка архитектора:</a:t>
            </a:r>
            <a:endParaRPr lang="en-US" sz="1000" dirty="0"/>
          </a:p>
          <a:p>
            <a:pPr algn="ctr" indent="0" marL="0">
              <a:buNone/>
            </a:pPr>
            <a:r>
              <a:rPr lang="en-US" sz="1000" b="1" dirty="0">
                <a:solidFill>
                  <a:srgbClr val="1C2430"/>
                </a:solidFill>
              </a:rPr>
              <a:t>желательное поведение должно быть устойчивым</a:t>
            </a:r>
            <a:endParaRPr lang="en-US" sz="1000" dirty="0"/>
          </a:p>
        </p:txBody>
      </p:sp>
      <p:sp>
        <p:nvSpPr>
          <p:cNvPr id="14" name="Shape 12"/>
          <p:cNvSpPr/>
          <p:nvPr/>
        </p:nvSpPr>
        <p:spPr>
          <a:xfrm>
            <a:off x="320040" y="6473952"/>
            <a:ext cx="11521440" cy="0"/>
          </a:xfrm>
          <a:prstGeom prst="line">
            <a:avLst/>
          </a:prstGeom>
          <a:noFill/>
          <a:ln w="7620">
            <a:solidFill>
              <a:srgbClr val="DDE3EA"/>
            </a:solidFill>
            <a:prstDash val="solid"/>
          </a:ln>
        </p:spPr>
      </p:sp>
      <p:sp>
        <p:nvSpPr>
          <p:cNvPr id="15" name="Text 13"/>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Nisan et al., Algorithmic Game Theory; Roughgarden, Twenty Lectures on Algorithmic Game Theory; Easley &amp; Kleinberg, Networks, Crowds, and Markets</a:t>
            </a:r>
            <a:endParaRPr lang="en-US" sz="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12. Проектирование и внедрение</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Типовые ошибки при применении теории игр</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32</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Считать агентов полностью рациональными, хотя они ограничены данными, временем и вычислениями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Использовать равновесие как гарантию хорошего результата, забывая об эффективности и справедливости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Игнорировать обучение: завтра агенты могут играть иначе, чем сегодня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Проектировать платежи без учета бюджета, юридических ограничений и проверяемости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Не тестировать манипуляции, сговор, ложные сообщения и отказ от участия</a:t>
            </a:r>
            <a:endParaRPr lang="en-US" sz="1550" dirty="0"/>
          </a:p>
        </p:txBody>
      </p:sp>
      <p:sp>
        <p:nvSpPr>
          <p:cNvPr id="7" name="Text 5"/>
          <p:cNvSpPr/>
          <p:nvPr/>
        </p:nvSpPr>
        <p:spPr>
          <a:xfrm>
            <a:off x="6812280" y="1188720"/>
            <a:ext cx="4297680" cy="201168"/>
          </a:xfrm>
          <a:prstGeom prst="rect">
            <a:avLst/>
          </a:prstGeom>
          <a:noFill/>
          <a:ln/>
        </p:spPr>
        <p:txBody>
          <a:bodyPr wrap="square" lIns="0" tIns="0" rIns="0" bIns="0" rtlCol="0" anchor="ctr"/>
          <a:lstStyle/>
          <a:p>
            <a:pPr algn="ctr" indent="0" marL="0">
              <a:buNone/>
            </a:pPr>
            <a:r>
              <a:rPr lang="en-US" sz="1100" b="1" dirty="0">
                <a:solidFill>
                  <a:srgbClr val="607080"/>
                </a:solidFill>
              </a:rPr>
              <a:t>Игра как модель взаимодействия</a:t>
            </a:r>
            <a:endParaRPr lang="en-US" sz="1100" dirty="0"/>
          </a:p>
        </p:txBody>
      </p:sp>
      <p:sp>
        <p:nvSpPr>
          <p:cNvPr id="8" name="Text 6"/>
          <p:cNvSpPr/>
          <p:nvPr/>
        </p:nvSpPr>
        <p:spPr>
          <a:xfrm>
            <a:off x="8229600" y="1508760"/>
            <a:ext cx="1463040" cy="68580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100" b="1" dirty="0">
                <a:solidFill>
                  <a:srgbClr val="1C2430"/>
                </a:solidFill>
              </a:rPr>
              <a:t>стратегии</a:t>
            </a:r>
            <a:endParaRPr lang="en-US" sz="1100" dirty="0"/>
          </a:p>
          <a:p>
            <a:pPr algn="ctr" indent="0" marL="0">
              <a:buNone/>
            </a:pPr>
            <a:r>
              <a:rPr lang="en-US" sz="1100" b="1" dirty="0">
                <a:solidFill>
                  <a:srgbClr val="1C2430"/>
                </a:solidFill>
              </a:rPr>
              <a:t>агентов</a:t>
            </a:r>
            <a:endParaRPr lang="en-US" sz="1100" dirty="0"/>
          </a:p>
        </p:txBody>
      </p:sp>
      <p:sp>
        <p:nvSpPr>
          <p:cNvPr id="9" name="Text 7"/>
          <p:cNvSpPr/>
          <p:nvPr/>
        </p:nvSpPr>
        <p:spPr>
          <a:xfrm>
            <a:off x="7040880" y="2743200"/>
            <a:ext cx="1417320" cy="685800"/>
          </a:xfrm>
          <a:prstGeom prst="rect">
            <a:avLst/>
          </a:prstGeom>
          <a:solidFill>
            <a:srgbClr val="FFF4D6"/>
          </a:solidFill>
          <a:ln w="12700">
            <a:solidFill>
              <a:srgbClr val="FFE08A"/>
            </a:solidFill>
          </a:ln>
        </p:spPr>
        <p:txBody>
          <a:bodyPr wrap="square" lIns="635" tIns="635" rIns="635" bIns="635" rtlCol="0" anchor="ctr">
            <a:normAutofit/>
          </a:bodyPr>
          <a:lstStyle/>
          <a:p>
            <a:pPr algn="ctr" indent="0" marL="0">
              <a:buNone/>
            </a:pPr>
            <a:r>
              <a:rPr lang="en-US" sz="1100" b="1" dirty="0">
                <a:solidFill>
                  <a:srgbClr val="1C2430"/>
                </a:solidFill>
              </a:rPr>
              <a:t>выигрыши</a:t>
            </a:r>
            <a:endParaRPr lang="en-US" sz="1100" dirty="0"/>
          </a:p>
          <a:p>
            <a:pPr algn="ctr" indent="0" marL="0">
              <a:buNone/>
            </a:pPr>
            <a:r>
              <a:rPr lang="en-US" sz="1100" b="1" dirty="0">
                <a:solidFill>
                  <a:srgbClr val="1C2430"/>
                </a:solidFill>
              </a:rPr>
              <a:t>и риски</a:t>
            </a:r>
            <a:endParaRPr lang="en-US" sz="1100" dirty="0"/>
          </a:p>
        </p:txBody>
      </p:sp>
      <p:sp>
        <p:nvSpPr>
          <p:cNvPr id="10" name="Text 8"/>
          <p:cNvSpPr/>
          <p:nvPr/>
        </p:nvSpPr>
        <p:spPr>
          <a:xfrm>
            <a:off x="9418320" y="2743200"/>
            <a:ext cx="1417320" cy="68580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100" b="1" dirty="0">
                <a:solidFill>
                  <a:srgbClr val="1C2430"/>
                </a:solidFill>
              </a:rPr>
              <a:t>протокол</a:t>
            </a:r>
            <a:endParaRPr lang="en-US" sz="1100" dirty="0"/>
          </a:p>
          <a:p>
            <a:pPr algn="ctr" indent="0" marL="0">
              <a:buNone/>
            </a:pPr>
            <a:r>
              <a:rPr lang="en-US" sz="1100" b="1" dirty="0">
                <a:solidFill>
                  <a:srgbClr val="1C2430"/>
                </a:solidFill>
              </a:rPr>
              <a:t>взаимодействия</a:t>
            </a:r>
            <a:endParaRPr lang="en-US" sz="1100" dirty="0"/>
          </a:p>
        </p:txBody>
      </p:sp>
      <p:sp>
        <p:nvSpPr>
          <p:cNvPr id="11" name="Shape 9"/>
          <p:cNvSpPr/>
          <p:nvPr/>
        </p:nvSpPr>
        <p:spPr>
          <a:xfrm>
            <a:off x="320040" y="6473952"/>
            <a:ext cx="11521440" cy="0"/>
          </a:xfrm>
          <a:prstGeom prst="line">
            <a:avLst/>
          </a:prstGeom>
          <a:noFill/>
          <a:ln w="7620">
            <a:solidFill>
              <a:srgbClr val="DDE3EA"/>
            </a:solidFill>
            <a:prstDash val="solid"/>
          </a:ln>
        </p:spPr>
      </p:sp>
      <p:sp>
        <p:nvSpPr>
          <p:cNvPr id="12" name="Text 10"/>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Osborne &amp; Rubinstein, A Course in Game Theory; Leyton-Brown &amp; Shoham, Essentials of Game Theory; Shoham &amp; Leyton-Brown</a:t>
            </a:r>
            <a:endParaRPr lang="en-US" sz="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13. Практический кейс</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Мини-кейс: распределение задач между роботами склада</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33</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Ситуация: 50 роботов, 500 задач, ограниченные проходы и зарядные станции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Игроки: роботы и диспетчер задач; действия: ставки за задачи, маршруты, запросы зарядки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Выигрыш робота: доход за задачу − время − энергия − риск опоздания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Механизм: аукцион задач + штраф за просрочку + репутация + приоритет безопасности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Проверка: цена анархии по маршрутам, устойчивость к ложным ставкам, отказ одного робота</a:t>
            </a:r>
            <a:endParaRPr lang="en-US" sz="1550" dirty="0"/>
          </a:p>
        </p:txBody>
      </p:sp>
      <p:sp>
        <p:nvSpPr>
          <p:cNvPr id="7" name="Text 5"/>
          <p:cNvSpPr/>
          <p:nvPr/>
        </p:nvSpPr>
        <p:spPr>
          <a:xfrm>
            <a:off x="8458200" y="1645920"/>
            <a:ext cx="1554480" cy="502920"/>
          </a:xfrm>
          <a:prstGeom prst="rect">
            <a:avLst/>
          </a:prstGeom>
          <a:solidFill>
            <a:srgbClr val="F1EDFF"/>
          </a:solidFill>
          <a:ln w="12700">
            <a:solidFill>
              <a:srgbClr val="C2B5FF"/>
            </a:solidFill>
          </a:ln>
        </p:spPr>
        <p:txBody>
          <a:bodyPr wrap="square" lIns="635" tIns="635" rIns="635" bIns="635" rtlCol="0" anchor="ctr">
            <a:normAutofit/>
          </a:bodyPr>
          <a:lstStyle/>
          <a:p>
            <a:pPr algn="ctr" indent="0" marL="0">
              <a:buNone/>
            </a:pPr>
            <a:r>
              <a:rPr lang="en-US" sz="1000" b="1" dirty="0">
                <a:solidFill>
                  <a:srgbClr val="1C2430"/>
                </a:solidFill>
              </a:rPr>
              <a:t>задача / ресурс</a:t>
            </a:r>
            <a:endParaRPr lang="en-US" sz="1000" dirty="0"/>
          </a:p>
        </p:txBody>
      </p:sp>
      <p:sp>
        <p:nvSpPr>
          <p:cNvPr id="8" name="Text 6"/>
          <p:cNvSpPr/>
          <p:nvPr/>
        </p:nvSpPr>
        <p:spPr>
          <a:xfrm>
            <a:off x="6812280" y="2560320"/>
            <a:ext cx="1234440" cy="548640"/>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1</a:t>
            </a:r>
            <a:endParaRPr lang="en-US" sz="1000" dirty="0"/>
          </a:p>
          <a:p>
            <a:pPr algn="ctr" indent="0" marL="0">
              <a:buNone/>
            </a:pPr>
            <a:r>
              <a:rPr lang="en-US" sz="1000" b="1" dirty="0">
                <a:solidFill>
                  <a:srgbClr val="1C2430"/>
                </a:solidFill>
              </a:rPr>
              <a:t>ставка b1</a:t>
            </a:r>
            <a:endParaRPr lang="en-US" sz="1000" dirty="0"/>
          </a:p>
        </p:txBody>
      </p:sp>
      <p:sp>
        <p:nvSpPr>
          <p:cNvPr id="9" name="Text 7"/>
          <p:cNvSpPr/>
          <p:nvPr/>
        </p:nvSpPr>
        <p:spPr>
          <a:xfrm>
            <a:off x="8412480" y="2560320"/>
            <a:ext cx="1234440" cy="548640"/>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2</a:t>
            </a:r>
            <a:endParaRPr lang="en-US" sz="1000" dirty="0"/>
          </a:p>
          <a:p>
            <a:pPr algn="ctr" indent="0" marL="0">
              <a:buNone/>
            </a:pPr>
            <a:r>
              <a:rPr lang="en-US" sz="1000" b="1" dirty="0">
                <a:solidFill>
                  <a:srgbClr val="1C2430"/>
                </a:solidFill>
              </a:rPr>
              <a:t>ставка b2</a:t>
            </a:r>
            <a:endParaRPr lang="en-US" sz="1000" dirty="0"/>
          </a:p>
        </p:txBody>
      </p:sp>
      <p:sp>
        <p:nvSpPr>
          <p:cNvPr id="10" name="Text 8"/>
          <p:cNvSpPr/>
          <p:nvPr/>
        </p:nvSpPr>
        <p:spPr>
          <a:xfrm>
            <a:off x="10012680" y="2560320"/>
            <a:ext cx="1234440" cy="548640"/>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агент 3</a:t>
            </a:r>
            <a:endParaRPr lang="en-US" sz="1000" dirty="0"/>
          </a:p>
          <a:p>
            <a:pPr algn="ctr" indent="0" marL="0">
              <a:buNone/>
            </a:pPr>
            <a:r>
              <a:rPr lang="en-US" sz="1000" b="1" dirty="0">
                <a:solidFill>
                  <a:srgbClr val="1C2430"/>
                </a:solidFill>
              </a:rPr>
              <a:t>ставка b3</a:t>
            </a:r>
            <a:endParaRPr lang="en-US" sz="1000" dirty="0"/>
          </a:p>
        </p:txBody>
      </p:sp>
      <p:sp>
        <p:nvSpPr>
          <p:cNvPr id="11" name="Text 9"/>
          <p:cNvSpPr/>
          <p:nvPr/>
        </p:nvSpPr>
        <p:spPr>
          <a:xfrm>
            <a:off x="8412480" y="3520440"/>
            <a:ext cx="1645920" cy="502920"/>
          </a:xfrm>
          <a:prstGeom prst="rect">
            <a:avLst/>
          </a:prstGeom>
          <a:solidFill>
            <a:srgbClr val="FFFFFF"/>
          </a:solidFill>
          <a:ln w="12700">
            <a:solidFill>
              <a:srgbClr val="246BFE"/>
            </a:solidFill>
          </a:ln>
        </p:spPr>
        <p:txBody>
          <a:bodyPr wrap="square" lIns="635" tIns="635" rIns="635" bIns="635" rtlCol="0" anchor="ctr">
            <a:normAutofit/>
          </a:bodyPr>
          <a:lstStyle/>
          <a:p>
            <a:pPr algn="ctr" indent="0" marL="0">
              <a:buNone/>
            </a:pPr>
            <a:r>
              <a:rPr lang="en-US" sz="1000" b="1" dirty="0">
                <a:solidFill>
                  <a:srgbClr val="1C2430"/>
                </a:solidFill>
              </a:rPr>
              <a:t>правило</a:t>
            </a:r>
            <a:endParaRPr lang="en-US" sz="1000" dirty="0"/>
          </a:p>
          <a:p>
            <a:pPr algn="ctr" indent="0" marL="0">
              <a:buNone/>
            </a:pPr>
            <a:r>
              <a:rPr lang="en-US" sz="1000" b="1" dirty="0">
                <a:solidFill>
                  <a:srgbClr val="1C2430"/>
                </a:solidFill>
              </a:rPr>
              <a:t>выбора</a:t>
            </a:r>
            <a:endParaRPr lang="en-US" sz="1000" dirty="0"/>
          </a:p>
        </p:txBody>
      </p:sp>
      <p:sp>
        <p:nvSpPr>
          <p:cNvPr id="12" name="Text 10"/>
          <p:cNvSpPr/>
          <p:nvPr/>
        </p:nvSpPr>
        <p:spPr>
          <a:xfrm>
            <a:off x="8293608" y="4251960"/>
            <a:ext cx="1874520" cy="50292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000" b="1" dirty="0">
                <a:solidFill>
                  <a:srgbClr val="1C2430"/>
                </a:solidFill>
              </a:rPr>
              <a:t>контракт + платеж</a:t>
            </a:r>
            <a:endParaRPr lang="en-US" sz="1000" dirty="0"/>
          </a:p>
        </p:txBody>
      </p:sp>
      <p:sp>
        <p:nvSpPr>
          <p:cNvPr id="13" name="Shape 11"/>
          <p:cNvSpPr/>
          <p:nvPr/>
        </p:nvSpPr>
        <p:spPr>
          <a:xfrm>
            <a:off x="320040" y="6473952"/>
            <a:ext cx="11521440" cy="0"/>
          </a:xfrm>
          <a:prstGeom prst="line">
            <a:avLst/>
          </a:prstGeom>
          <a:noFill/>
          <a:ln w="7620">
            <a:solidFill>
              <a:srgbClr val="DDE3EA"/>
            </a:solidFill>
            <a:prstDash val="solid"/>
          </a:ln>
        </p:spPr>
      </p:sp>
      <p:sp>
        <p:nvSpPr>
          <p:cNvPr id="14" name="Text 12"/>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13. Практический кейс</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Мини-кейс: комитет LLM-агентов для инженерного решения</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34</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Роли: генератор решения, критик, проверяющий источники, тестировщик, арбитр</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Игра: агенты конкурируют за доверие к своему выводу и кооперируются ради качества решения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Механизм: обязательные ссылки на данные, независимая проверка, штраф за неподтвержденное утверждение</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Риск: сговор через общий контекст, взаимное усиление ошибок, авторитетный тон вместо фактов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Решение: разделение контекста, голосование с весами, финальная проверка инструментами</a:t>
            </a:r>
            <a:endParaRPr lang="en-US" sz="1550" dirty="0"/>
          </a:p>
        </p:txBody>
      </p:sp>
      <p:sp>
        <p:nvSpPr>
          <p:cNvPr id="7" name="Text 5"/>
          <p:cNvSpPr/>
          <p:nvPr/>
        </p:nvSpPr>
        <p:spPr>
          <a:xfrm>
            <a:off x="9006840" y="1554480"/>
            <a:ext cx="868680" cy="475488"/>
          </a:xfrm>
          <a:prstGeom prst="rect">
            <a:avLst/>
          </a:prstGeom>
          <a:solidFill>
            <a:srgbClr val="102A43"/>
          </a:solidFill>
          <a:ln w="12700">
            <a:solidFill>
              <a:srgbClr val="102A43"/>
            </a:solidFill>
          </a:ln>
        </p:spPr>
        <p:txBody>
          <a:bodyPr wrap="square" lIns="254" tIns="254" rIns="254" bIns="254" rtlCol="0" anchor="ctr">
            <a:normAutofit/>
          </a:bodyPr>
          <a:lstStyle/>
          <a:p>
            <a:pPr algn="ctr" indent="0" marL="0">
              <a:buNone/>
            </a:pPr>
            <a:r>
              <a:rPr lang="en-US" sz="800" b="1" dirty="0">
                <a:solidFill>
                  <a:srgbClr val="FFFFFF"/>
                </a:solidFill>
              </a:rPr>
              <a:t>Среда</a:t>
            </a:r>
            <a:endParaRPr lang="en-US" sz="800" dirty="0"/>
          </a:p>
        </p:txBody>
      </p:sp>
      <p:sp>
        <p:nvSpPr>
          <p:cNvPr id="8" name="Text 6"/>
          <p:cNvSpPr/>
          <p:nvPr/>
        </p:nvSpPr>
        <p:spPr>
          <a:xfrm>
            <a:off x="6995160" y="3145536"/>
            <a:ext cx="868680" cy="475488"/>
          </a:xfrm>
          <a:prstGeom prst="rect">
            <a:avLst/>
          </a:prstGeom>
          <a:solidFill>
            <a:srgbClr val="246BFE"/>
          </a:solidFill>
          <a:ln w="12700">
            <a:solidFill>
              <a:srgbClr val="246BFE"/>
            </a:solidFill>
          </a:ln>
        </p:spPr>
        <p:txBody>
          <a:bodyPr wrap="square" lIns="254" tIns="254" rIns="254" bIns="254" rtlCol="0" anchor="ctr">
            <a:normAutofit/>
          </a:bodyPr>
          <a:lstStyle/>
          <a:p>
            <a:pPr algn="ctr" indent="0" marL="0">
              <a:buNone/>
            </a:pPr>
            <a:r>
              <a:rPr lang="en-US" sz="800" b="1" dirty="0">
                <a:solidFill>
                  <a:srgbClr val="FFFFFF"/>
                </a:solidFill>
              </a:rPr>
              <a:t>Агент A</a:t>
            </a:r>
            <a:endParaRPr lang="en-US" sz="800" dirty="0"/>
          </a:p>
        </p:txBody>
      </p:sp>
      <p:sp>
        <p:nvSpPr>
          <p:cNvPr id="9" name="Text 7"/>
          <p:cNvSpPr/>
          <p:nvPr/>
        </p:nvSpPr>
        <p:spPr>
          <a:xfrm>
            <a:off x="8655710" y="3337560"/>
            <a:ext cx="868680" cy="475488"/>
          </a:xfrm>
          <a:prstGeom prst="rect">
            <a:avLst/>
          </a:prstGeom>
          <a:solidFill>
            <a:srgbClr val="7048E8"/>
          </a:solidFill>
          <a:ln w="12700">
            <a:solidFill>
              <a:srgbClr val="7048E8"/>
            </a:solidFill>
          </a:ln>
        </p:spPr>
        <p:txBody>
          <a:bodyPr wrap="square" lIns="254" tIns="254" rIns="254" bIns="254" rtlCol="0" anchor="ctr">
            <a:normAutofit/>
          </a:bodyPr>
          <a:lstStyle/>
          <a:p>
            <a:pPr algn="ctr" indent="0" marL="0">
              <a:buNone/>
            </a:pPr>
            <a:r>
              <a:rPr lang="en-US" sz="800" b="1" dirty="0">
                <a:solidFill>
                  <a:srgbClr val="FFFFFF"/>
                </a:solidFill>
              </a:rPr>
              <a:t>Агент B</a:t>
            </a:r>
            <a:endParaRPr lang="en-US" sz="800" dirty="0"/>
          </a:p>
        </p:txBody>
      </p:sp>
      <p:sp>
        <p:nvSpPr>
          <p:cNvPr id="10" name="Text 8"/>
          <p:cNvSpPr/>
          <p:nvPr/>
        </p:nvSpPr>
        <p:spPr>
          <a:xfrm>
            <a:off x="9972446" y="3030322"/>
            <a:ext cx="868680" cy="475488"/>
          </a:xfrm>
          <a:prstGeom prst="rect">
            <a:avLst/>
          </a:prstGeom>
          <a:solidFill>
            <a:srgbClr val="2F9E44"/>
          </a:solidFill>
          <a:ln w="12700">
            <a:solidFill>
              <a:srgbClr val="2F9E44"/>
            </a:solidFill>
          </a:ln>
        </p:spPr>
        <p:txBody>
          <a:bodyPr wrap="square" lIns="254" tIns="254" rIns="254" bIns="254" rtlCol="0" anchor="ctr">
            <a:normAutofit/>
          </a:bodyPr>
          <a:lstStyle/>
          <a:p>
            <a:pPr algn="ctr" indent="0" marL="0">
              <a:buNone/>
            </a:pPr>
            <a:r>
              <a:rPr lang="en-US" sz="800" b="1" dirty="0">
                <a:solidFill>
                  <a:srgbClr val="FFFFFF"/>
                </a:solidFill>
              </a:rPr>
              <a:t>Агент C</a:t>
            </a:r>
            <a:endParaRPr lang="en-US" sz="800" dirty="0"/>
          </a:p>
        </p:txBody>
      </p:sp>
      <p:sp>
        <p:nvSpPr>
          <p:cNvPr id="11" name="Text 9"/>
          <p:cNvSpPr/>
          <p:nvPr/>
        </p:nvSpPr>
        <p:spPr>
          <a:xfrm>
            <a:off x="9226296" y="4681728"/>
            <a:ext cx="868680" cy="475488"/>
          </a:xfrm>
          <a:prstGeom prst="rect">
            <a:avLst/>
          </a:prstGeom>
          <a:solidFill>
            <a:srgbClr val="F59F00"/>
          </a:solidFill>
          <a:ln w="12700">
            <a:solidFill>
              <a:srgbClr val="F59F00"/>
            </a:solidFill>
          </a:ln>
        </p:spPr>
        <p:txBody>
          <a:bodyPr wrap="square" lIns="254" tIns="254" rIns="254" bIns="254" rtlCol="0" anchor="ctr">
            <a:normAutofit/>
          </a:bodyPr>
          <a:lstStyle/>
          <a:p>
            <a:pPr algn="ctr" indent="0" marL="0">
              <a:buNone/>
            </a:pPr>
            <a:r>
              <a:rPr lang="en-US" sz="800" b="1" dirty="0">
                <a:solidFill>
                  <a:srgbClr val="FFFFFF"/>
                </a:solidFill>
              </a:rPr>
              <a:t>Ресурс</a:t>
            </a:r>
            <a:endParaRPr lang="en-US" sz="8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14. Архитектурная реализация</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Как встроить игровые механизмы в программную архитектуру</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35</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Слой модели игры: игроки, действия, типы, выигрыши, ограничения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Слой симуляции: сценарии, профили агентов, атаки, обучение, стресс-тесты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Слой механизма: правила выбора, платежи, санкции, репутация, арбитраж</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Слой исполнения: API, очереди, контракты, блокировки, транзакции, логи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Слой мониторинга: отклонения, сговор, деградация равновесия, жалобы пользователей</a:t>
            </a:r>
            <a:endParaRPr lang="en-US" sz="1550" dirty="0"/>
          </a:p>
        </p:txBody>
      </p:sp>
      <p:sp>
        <p:nvSpPr>
          <p:cNvPr id="7" name="Text 5"/>
          <p:cNvSpPr/>
          <p:nvPr/>
        </p:nvSpPr>
        <p:spPr>
          <a:xfrm>
            <a:off x="6812280" y="1600200"/>
            <a:ext cx="3931920" cy="393192"/>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модель игры</a:t>
            </a:r>
            <a:endParaRPr lang="en-US" sz="900" dirty="0"/>
          </a:p>
        </p:txBody>
      </p:sp>
      <p:sp>
        <p:nvSpPr>
          <p:cNvPr id="8" name="Text 6"/>
          <p:cNvSpPr/>
          <p:nvPr/>
        </p:nvSpPr>
        <p:spPr>
          <a:xfrm>
            <a:off x="7040880" y="2075688"/>
            <a:ext cx="3474720" cy="393192"/>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симулятор среды</a:t>
            </a:r>
            <a:endParaRPr lang="en-US" sz="900" dirty="0"/>
          </a:p>
        </p:txBody>
      </p:sp>
      <p:sp>
        <p:nvSpPr>
          <p:cNvPr id="9" name="Text 7"/>
          <p:cNvSpPr/>
          <p:nvPr/>
        </p:nvSpPr>
        <p:spPr>
          <a:xfrm>
            <a:off x="7269480" y="2551176"/>
            <a:ext cx="3017520" cy="393192"/>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поиск равновесия</a:t>
            </a:r>
            <a:endParaRPr lang="en-US" sz="900" dirty="0"/>
          </a:p>
        </p:txBody>
      </p:sp>
      <p:sp>
        <p:nvSpPr>
          <p:cNvPr id="10" name="Text 8"/>
          <p:cNvSpPr/>
          <p:nvPr/>
        </p:nvSpPr>
        <p:spPr>
          <a:xfrm>
            <a:off x="7498080" y="3026664"/>
            <a:ext cx="2560320" cy="393192"/>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протокол / API</a:t>
            </a:r>
            <a:endParaRPr lang="en-US" sz="900" dirty="0"/>
          </a:p>
        </p:txBody>
      </p:sp>
      <p:sp>
        <p:nvSpPr>
          <p:cNvPr id="11" name="Text 9"/>
          <p:cNvSpPr/>
          <p:nvPr/>
        </p:nvSpPr>
        <p:spPr>
          <a:xfrm>
            <a:off x="7726680" y="3502152"/>
            <a:ext cx="2103120" cy="393192"/>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мониторинг и аудит</a:t>
            </a:r>
            <a:endParaRPr lang="en-US" sz="9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14. Архитектурная реализация</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Тестирование игровых свойств</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36</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Unit-тесты проверяют корректность правил: ставки, платежи, победители, штрафы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Property-based тесты ищут нарушения инвариантов: бюджет, допустимость, индивидуальная рациональность</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Adversarial tests моделируют ложные заявки, сговор, Sybil-агентов, задержки и отказ от участия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Simulation tests оценивают равновесия, перегрузку, цену анархии, устойчивость к масштабу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Human-in-the-loop нужен там, где полезность включает качество, справедливость и ответственность</a:t>
            </a:r>
            <a:endParaRPr lang="en-US" sz="1550" dirty="0"/>
          </a:p>
        </p:txBody>
      </p:sp>
      <p:sp>
        <p:nvSpPr>
          <p:cNvPr id="7" name="Text 5"/>
          <p:cNvSpPr/>
          <p:nvPr/>
        </p:nvSpPr>
        <p:spPr>
          <a:xfrm>
            <a:off x="6812280" y="1627632"/>
            <a:ext cx="4251960" cy="228600"/>
          </a:xfrm>
          <a:prstGeom prst="rect">
            <a:avLst/>
          </a:prstGeom>
          <a:noFill/>
          <a:ln/>
        </p:spPr>
        <p:txBody>
          <a:bodyPr wrap="square" lIns="0" tIns="0" rIns="0" bIns="0" rtlCol="0" anchor="ctr"/>
          <a:lstStyle/>
          <a:p>
            <a:pPr algn="ctr" indent="0" marL="0">
              <a:buNone/>
            </a:pPr>
            <a:r>
              <a:rPr lang="en-US" sz="1100" b="1" dirty="0">
                <a:solidFill>
                  <a:srgbClr val="607080"/>
                </a:solidFill>
              </a:rPr>
              <a:t>Защитник × атакующий</a:t>
            </a:r>
            <a:endParaRPr lang="en-US" sz="1100" dirty="0"/>
          </a:p>
        </p:txBody>
      </p:sp>
      <p:sp>
        <p:nvSpPr>
          <p:cNvPr id="8" name="Text 6"/>
          <p:cNvSpPr/>
          <p:nvPr/>
        </p:nvSpPr>
        <p:spPr>
          <a:xfrm>
            <a:off x="681228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endParaRPr lang="en-US" sz="900" dirty="0"/>
          </a:p>
        </p:txBody>
      </p:sp>
      <p:sp>
        <p:nvSpPr>
          <p:cNvPr id="9" name="Text 7"/>
          <p:cNvSpPr/>
          <p:nvPr/>
        </p:nvSpPr>
        <p:spPr>
          <a:xfrm>
            <a:off x="822960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a1</a:t>
            </a:r>
            <a:endParaRPr lang="en-US" sz="900" dirty="0"/>
          </a:p>
        </p:txBody>
      </p:sp>
      <p:sp>
        <p:nvSpPr>
          <p:cNvPr id="10" name="Text 8"/>
          <p:cNvSpPr/>
          <p:nvPr/>
        </p:nvSpPr>
        <p:spPr>
          <a:xfrm>
            <a:off x="9646920" y="192024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B: a2</a:t>
            </a:r>
            <a:endParaRPr lang="en-US" sz="900" dirty="0"/>
          </a:p>
        </p:txBody>
      </p:sp>
      <p:sp>
        <p:nvSpPr>
          <p:cNvPr id="11" name="Text 9"/>
          <p:cNvSpPr/>
          <p:nvPr/>
        </p:nvSpPr>
        <p:spPr>
          <a:xfrm>
            <a:off x="6812280" y="252603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a1</a:t>
            </a:r>
            <a:endParaRPr lang="en-US" sz="900" dirty="0"/>
          </a:p>
        </p:txBody>
      </p:sp>
      <p:sp>
        <p:nvSpPr>
          <p:cNvPr id="12" name="Text 10"/>
          <p:cNvSpPr/>
          <p:nvPr/>
        </p:nvSpPr>
        <p:spPr>
          <a:xfrm>
            <a:off x="8229600" y="2526030"/>
            <a:ext cx="1417320" cy="60579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5,-5</a:t>
            </a:r>
            <a:endParaRPr lang="en-US" sz="1200" dirty="0"/>
          </a:p>
        </p:txBody>
      </p:sp>
      <p:sp>
        <p:nvSpPr>
          <p:cNvPr id="13" name="Text 11"/>
          <p:cNvSpPr/>
          <p:nvPr/>
        </p:nvSpPr>
        <p:spPr>
          <a:xfrm>
            <a:off x="9646920" y="2526030"/>
            <a:ext cx="1417320" cy="605790"/>
          </a:xfrm>
          <a:prstGeom prst="rect">
            <a:avLst/>
          </a:prstGeom>
          <a:solidFill>
            <a:srgbClr val="EAF7E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0,0</a:t>
            </a:r>
            <a:endParaRPr lang="en-US" sz="1200" dirty="0"/>
          </a:p>
        </p:txBody>
      </p:sp>
      <p:sp>
        <p:nvSpPr>
          <p:cNvPr id="14" name="Text 12"/>
          <p:cNvSpPr/>
          <p:nvPr/>
        </p:nvSpPr>
        <p:spPr>
          <a:xfrm>
            <a:off x="6812280" y="313182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a2</a:t>
            </a:r>
            <a:endParaRPr lang="en-US" sz="900" dirty="0"/>
          </a:p>
        </p:txBody>
      </p:sp>
      <p:sp>
        <p:nvSpPr>
          <p:cNvPr id="15" name="Text 13"/>
          <p:cNvSpPr/>
          <p:nvPr/>
        </p:nvSpPr>
        <p:spPr>
          <a:xfrm>
            <a:off x="8229600" y="3131820"/>
            <a:ext cx="1417320" cy="605790"/>
          </a:xfrm>
          <a:prstGeom prst="rect">
            <a:avLst/>
          </a:prstGeom>
          <a:solidFill>
            <a:srgbClr val="EAF7EF"/>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2,-2</a:t>
            </a:r>
            <a:endParaRPr lang="en-US" sz="1200" dirty="0"/>
          </a:p>
        </p:txBody>
      </p:sp>
      <p:sp>
        <p:nvSpPr>
          <p:cNvPr id="16" name="Text 14"/>
          <p:cNvSpPr/>
          <p:nvPr/>
        </p:nvSpPr>
        <p:spPr>
          <a:xfrm>
            <a:off x="9646920" y="3131820"/>
            <a:ext cx="1417320" cy="60579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4,-4</a:t>
            </a:r>
            <a:endParaRPr lang="en-US" sz="1200" dirty="0"/>
          </a:p>
        </p:txBody>
      </p:sp>
      <p:sp>
        <p:nvSpPr>
          <p:cNvPr id="17" name="Text 15"/>
          <p:cNvSpPr/>
          <p:nvPr/>
        </p:nvSpPr>
        <p:spPr>
          <a:xfrm>
            <a:off x="6812280" y="3737610"/>
            <a:ext cx="1417320" cy="605790"/>
          </a:xfrm>
          <a:prstGeom prst="rect">
            <a:avLst/>
          </a:prstGeom>
          <a:solidFill>
            <a:srgbClr val="EDF2F7"/>
          </a:solidFill>
          <a:ln w="12700">
            <a:solidFill>
              <a:srgbClr val="FFFFFF"/>
            </a:solidFill>
          </a:ln>
        </p:spPr>
        <p:txBody>
          <a:bodyPr wrap="square" lIns="254" tIns="254" rIns="254" bIns="254" rtlCol="0" anchor="ctr">
            <a:normAutofit/>
          </a:bodyPr>
          <a:lstStyle/>
          <a:p>
            <a:pPr algn="ctr" indent="0" marL="0">
              <a:buNone/>
            </a:pPr>
            <a:r>
              <a:rPr lang="en-US" sz="900" b="1" dirty="0">
                <a:solidFill>
                  <a:srgbClr val="1C2430"/>
                </a:solidFill>
              </a:rPr>
              <a:t>A: a3</a:t>
            </a:r>
            <a:endParaRPr lang="en-US" sz="900" dirty="0"/>
          </a:p>
        </p:txBody>
      </p:sp>
      <p:sp>
        <p:nvSpPr>
          <p:cNvPr id="18" name="Text 16"/>
          <p:cNvSpPr/>
          <p:nvPr/>
        </p:nvSpPr>
        <p:spPr>
          <a:xfrm>
            <a:off x="8229600" y="3737610"/>
            <a:ext cx="1417320" cy="605790"/>
          </a:xfrm>
          <a:prstGeom prst="rect">
            <a:avLst/>
          </a:prstGeom>
          <a:solidFill>
            <a:srgbClr val="FFE8E8"/>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1,-1</a:t>
            </a:r>
            <a:endParaRPr lang="en-US" sz="1200" dirty="0"/>
          </a:p>
        </p:txBody>
      </p:sp>
      <p:sp>
        <p:nvSpPr>
          <p:cNvPr id="19" name="Text 17"/>
          <p:cNvSpPr/>
          <p:nvPr/>
        </p:nvSpPr>
        <p:spPr>
          <a:xfrm>
            <a:off x="9646920" y="3737610"/>
            <a:ext cx="1417320" cy="605790"/>
          </a:xfrm>
          <a:prstGeom prst="rect">
            <a:avLst/>
          </a:prstGeom>
          <a:solidFill>
            <a:srgbClr val="FFF4D6"/>
          </a:solidFill>
          <a:ln w="12700">
            <a:solidFill>
              <a:srgbClr val="FFFFFF"/>
            </a:solidFill>
          </a:ln>
        </p:spPr>
        <p:txBody>
          <a:bodyPr wrap="square" lIns="254" tIns="254" rIns="254" bIns="254" rtlCol="0" anchor="ctr">
            <a:normAutofit/>
          </a:bodyPr>
          <a:lstStyle/>
          <a:p>
            <a:pPr algn="ctr" indent="0" marL="0">
              <a:buNone/>
            </a:pPr>
            <a:r>
              <a:rPr lang="en-US" sz="1200" dirty="0">
                <a:solidFill>
                  <a:srgbClr val="1C2430"/>
                </a:solidFill>
              </a:rPr>
              <a:t>3,-3</a:t>
            </a:r>
            <a:endParaRPr lang="en-US" sz="1200" dirty="0"/>
          </a:p>
        </p:txBody>
      </p:sp>
      <p:sp>
        <p:nvSpPr>
          <p:cNvPr id="20" name="Shape 18"/>
          <p:cNvSpPr/>
          <p:nvPr/>
        </p:nvSpPr>
        <p:spPr>
          <a:xfrm>
            <a:off x="320040" y="6473952"/>
            <a:ext cx="11521440" cy="0"/>
          </a:xfrm>
          <a:prstGeom prst="line">
            <a:avLst/>
          </a:prstGeom>
          <a:noFill/>
          <a:ln w="7620">
            <a:solidFill>
              <a:srgbClr val="DDE3EA"/>
            </a:solidFill>
            <a:prstDash val="solid"/>
          </a:ln>
        </p:spPr>
      </p:sp>
      <p:sp>
        <p:nvSpPr>
          <p:cNvPr id="21" name="Text 19"/>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14. Архитектурная реализация</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Карта выбора механизма для MAS</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37</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Ограниченный делимый ресурс → цены, квоты, congestion pricing</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Неделимые задачи → аукцион, Contract Net, matching</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Коллективное решение → голосование, комитет, коррелирующий сигнал</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Повторные сделки → репутация, доверие, штрафы, история исполнения</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Недоверенная среда → криптографические доказательства, аудит, смарт-контракты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Обучающиеся агенты → симулятор, self-play, ограничения безопасности</a:t>
            </a:r>
            <a:endParaRPr lang="en-US" sz="1550" dirty="0"/>
          </a:p>
        </p:txBody>
      </p:sp>
      <p:sp>
        <p:nvSpPr>
          <p:cNvPr id="7" name="Text 5"/>
          <p:cNvSpPr/>
          <p:nvPr/>
        </p:nvSpPr>
        <p:spPr>
          <a:xfrm>
            <a:off x="6812280" y="1828800"/>
            <a:ext cx="713232" cy="585216"/>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типы</a:t>
            </a:r>
            <a:endParaRPr lang="en-US" sz="1000" dirty="0"/>
          </a:p>
        </p:txBody>
      </p:sp>
      <p:sp>
        <p:nvSpPr>
          <p:cNvPr id="8" name="Text 6"/>
          <p:cNvSpPr/>
          <p:nvPr/>
        </p:nvSpPr>
        <p:spPr>
          <a:xfrm>
            <a:off x="7680960" y="1828800"/>
            <a:ext cx="713232" cy="585216"/>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сообщения</a:t>
            </a:r>
            <a:endParaRPr lang="en-US" sz="1000" dirty="0"/>
          </a:p>
        </p:txBody>
      </p:sp>
      <p:sp>
        <p:nvSpPr>
          <p:cNvPr id="9" name="Text 7"/>
          <p:cNvSpPr/>
          <p:nvPr/>
        </p:nvSpPr>
        <p:spPr>
          <a:xfrm>
            <a:off x="8549640" y="1828800"/>
            <a:ext cx="713232" cy="585216"/>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правило</a:t>
            </a:r>
            <a:endParaRPr lang="en-US" sz="1000" dirty="0"/>
          </a:p>
        </p:txBody>
      </p:sp>
      <p:sp>
        <p:nvSpPr>
          <p:cNvPr id="10" name="Text 8"/>
          <p:cNvSpPr/>
          <p:nvPr/>
        </p:nvSpPr>
        <p:spPr>
          <a:xfrm>
            <a:off x="9418320" y="1828800"/>
            <a:ext cx="713232" cy="585216"/>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платежи</a:t>
            </a:r>
            <a:endParaRPr lang="en-US" sz="1000" dirty="0"/>
          </a:p>
        </p:txBody>
      </p:sp>
      <p:sp>
        <p:nvSpPr>
          <p:cNvPr id="11" name="Text 9"/>
          <p:cNvSpPr/>
          <p:nvPr/>
        </p:nvSpPr>
        <p:spPr>
          <a:xfrm>
            <a:off x="10287000" y="1828800"/>
            <a:ext cx="713232" cy="585216"/>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1000" b="1" dirty="0">
                <a:solidFill>
                  <a:srgbClr val="1C2430"/>
                </a:solidFill>
              </a:rPr>
              <a:t>исход</a:t>
            </a:r>
            <a:endParaRPr lang="en-US" sz="10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15. Будущее и выводы</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Что меняется с автономными и самообучающимися агентами</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38</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Стратегии перестают быть статичными: агенты учатся, адаптируются и меняют игру</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Поведение системы может эволюционировать быстрее, чем документация и регламенты</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Появляются новые формы сговора, манипуляции, паразитирования и эмерджентной кооперации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Требуются непрерывный мониторинг, ограничение действий, аудит целей и симуляция перед выпуском</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Теория игр становится не отдельной темой, а частью жизненного цикла агентной системы</a:t>
            </a:r>
            <a:endParaRPr lang="en-US" sz="1550" dirty="0"/>
          </a:p>
        </p:txBody>
      </p:sp>
      <p:sp>
        <p:nvSpPr>
          <p:cNvPr id="7" name="Text 5"/>
          <p:cNvSpPr/>
          <p:nvPr/>
        </p:nvSpPr>
        <p:spPr>
          <a:xfrm>
            <a:off x="6812280" y="1645920"/>
            <a:ext cx="3931920" cy="393192"/>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политики агентов πᵢ</a:t>
            </a:r>
            <a:endParaRPr lang="en-US" sz="900" dirty="0"/>
          </a:p>
        </p:txBody>
      </p:sp>
      <p:sp>
        <p:nvSpPr>
          <p:cNvPr id="8" name="Text 6"/>
          <p:cNvSpPr/>
          <p:nvPr/>
        </p:nvSpPr>
        <p:spPr>
          <a:xfrm>
            <a:off x="7040880" y="2121408"/>
            <a:ext cx="3474720" cy="393192"/>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совместная среда</a:t>
            </a:r>
            <a:endParaRPr lang="en-US" sz="900" dirty="0"/>
          </a:p>
        </p:txBody>
      </p:sp>
      <p:sp>
        <p:nvSpPr>
          <p:cNvPr id="9" name="Text 7"/>
          <p:cNvSpPr/>
          <p:nvPr/>
        </p:nvSpPr>
        <p:spPr>
          <a:xfrm>
            <a:off x="7269480" y="2596896"/>
            <a:ext cx="3017520" cy="393192"/>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награды rᵢ</a:t>
            </a:r>
            <a:endParaRPr lang="en-US" sz="900" dirty="0"/>
          </a:p>
        </p:txBody>
      </p:sp>
      <p:sp>
        <p:nvSpPr>
          <p:cNvPr id="10" name="Text 8"/>
          <p:cNvSpPr/>
          <p:nvPr/>
        </p:nvSpPr>
        <p:spPr>
          <a:xfrm>
            <a:off x="7498080" y="3072384"/>
            <a:ext cx="2560320" cy="393192"/>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критик / value</a:t>
            </a:r>
            <a:endParaRPr lang="en-US" sz="900" dirty="0"/>
          </a:p>
        </p:txBody>
      </p:sp>
      <p:sp>
        <p:nvSpPr>
          <p:cNvPr id="11" name="Text 9"/>
          <p:cNvSpPr/>
          <p:nvPr/>
        </p:nvSpPr>
        <p:spPr>
          <a:xfrm>
            <a:off x="7726680" y="3547872"/>
            <a:ext cx="2103120" cy="393192"/>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обновление параметров</a:t>
            </a:r>
            <a:endParaRPr lang="en-US" sz="9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15. Будущее и выводы</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Главные выводы лекции</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39</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Мультиагентная система — это не только архитектура агентов, но и архитектура стимулов</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Равновесие показывает устойчивость, но не гарантирует эффективность, справедливость и безопасность</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Аукционы, переговоры, matching, репутация и механизмы — инженерные инструменты распределенной автономии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Обучающиеся агенты требуют симуляции, мониторинга и защиты от стратегической адаптации</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Правильный вопрос архитектора: «какую игру я создаю своими правилами?»</a:t>
            </a:r>
            <a:endParaRPr lang="en-US" sz="1550" dirty="0"/>
          </a:p>
        </p:txBody>
      </p:sp>
      <p:sp>
        <p:nvSpPr>
          <p:cNvPr id="7" name="Text 5"/>
          <p:cNvSpPr/>
          <p:nvPr/>
        </p:nvSpPr>
        <p:spPr>
          <a:xfrm>
            <a:off x="6812280" y="1188720"/>
            <a:ext cx="4297680" cy="201168"/>
          </a:xfrm>
          <a:prstGeom prst="rect">
            <a:avLst/>
          </a:prstGeom>
          <a:noFill/>
          <a:ln/>
        </p:spPr>
        <p:txBody>
          <a:bodyPr wrap="square" lIns="0" tIns="0" rIns="0" bIns="0" rtlCol="0" anchor="ctr"/>
          <a:lstStyle/>
          <a:p>
            <a:pPr algn="ctr" indent="0" marL="0">
              <a:buNone/>
            </a:pPr>
            <a:r>
              <a:rPr lang="en-US" sz="1100" b="1" dirty="0">
                <a:solidFill>
                  <a:srgbClr val="607080"/>
                </a:solidFill>
              </a:rPr>
              <a:t>Игра как модель взаимодействия</a:t>
            </a:r>
            <a:endParaRPr lang="en-US" sz="1100" dirty="0"/>
          </a:p>
        </p:txBody>
      </p:sp>
      <p:sp>
        <p:nvSpPr>
          <p:cNvPr id="8" name="Text 6"/>
          <p:cNvSpPr/>
          <p:nvPr/>
        </p:nvSpPr>
        <p:spPr>
          <a:xfrm>
            <a:off x="8229600" y="1508760"/>
            <a:ext cx="1463040" cy="685800"/>
          </a:xfrm>
          <a:prstGeom prst="rect">
            <a:avLst/>
          </a:prstGeom>
          <a:solidFill>
            <a:srgbClr val="E7F0FF"/>
          </a:solidFill>
          <a:ln w="12700">
            <a:solidFill>
              <a:srgbClr val="BBD0FF"/>
            </a:solidFill>
          </a:ln>
        </p:spPr>
        <p:txBody>
          <a:bodyPr wrap="square" lIns="635" tIns="635" rIns="635" bIns="635" rtlCol="0" anchor="ctr">
            <a:normAutofit/>
          </a:bodyPr>
          <a:lstStyle/>
          <a:p>
            <a:pPr algn="ctr" indent="0" marL="0">
              <a:buNone/>
            </a:pPr>
            <a:r>
              <a:rPr lang="en-US" sz="1100" b="1" dirty="0">
                <a:solidFill>
                  <a:srgbClr val="1C2430"/>
                </a:solidFill>
              </a:rPr>
              <a:t>стратегии</a:t>
            </a:r>
            <a:endParaRPr lang="en-US" sz="1100" dirty="0"/>
          </a:p>
          <a:p>
            <a:pPr algn="ctr" indent="0" marL="0">
              <a:buNone/>
            </a:pPr>
            <a:r>
              <a:rPr lang="en-US" sz="1100" b="1" dirty="0">
                <a:solidFill>
                  <a:srgbClr val="1C2430"/>
                </a:solidFill>
              </a:rPr>
              <a:t>агентов</a:t>
            </a:r>
            <a:endParaRPr lang="en-US" sz="1100" dirty="0"/>
          </a:p>
        </p:txBody>
      </p:sp>
      <p:sp>
        <p:nvSpPr>
          <p:cNvPr id="9" name="Text 7"/>
          <p:cNvSpPr/>
          <p:nvPr/>
        </p:nvSpPr>
        <p:spPr>
          <a:xfrm>
            <a:off x="7040880" y="2743200"/>
            <a:ext cx="1417320" cy="685800"/>
          </a:xfrm>
          <a:prstGeom prst="rect">
            <a:avLst/>
          </a:prstGeom>
          <a:solidFill>
            <a:srgbClr val="FFF4D6"/>
          </a:solidFill>
          <a:ln w="12700">
            <a:solidFill>
              <a:srgbClr val="FFE08A"/>
            </a:solidFill>
          </a:ln>
        </p:spPr>
        <p:txBody>
          <a:bodyPr wrap="square" lIns="635" tIns="635" rIns="635" bIns="635" rtlCol="0" anchor="ctr">
            <a:normAutofit/>
          </a:bodyPr>
          <a:lstStyle/>
          <a:p>
            <a:pPr algn="ctr" indent="0" marL="0">
              <a:buNone/>
            </a:pPr>
            <a:r>
              <a:rPr lang="en-US" sz="1100" b="1" dirty="0">
                <a:solidFill>
                  <a:srgbClr val="1C2430"/>
                </a:solidFill>
              </a:rPr>
              <a:t>выигрыши</a:t>
            </a:r>
            <a:endParaRPr lang="en-US" sz="1100" dirty="0"/>
          </a:p>
          <a:p>
            <a:pPr algn="ctr" indent="0" marL="0">
              <a:buNone/>
            </a:pPr>
            <a:r>
              <a:rPr lang="en-US" sz="1100" b="1" dirty="0">
                <a:solidFill>
                  <a:srgbClr val="1C2430"/>
                </a:solidFill>
              </a:rPr>
              <a:t>и риски</a:t>
            </a:r>
            <a:endParaRPr lang="en-US" sz="1100" dirty="0"/>
          </a:p>
        </p:txBody>
      </p:sp>
      <p:sp>
        <p:nvSpPr>
          <p:cNvPr id="10" name="Text 8"/>
          <p:cNvSpPr/>
          <p:nvPr/>
        </p:nvSpPr>
        <p:spPr>
          <a:xfrm>
            <a:off x="9418320" y="2743200"/>
            <a:ext cx="1417320" cy="685800"/>
          </a:xfrm>
          <a:prstGeom prst="rect">
            <a:avLst/>
          </a:prstGeom>
          <a:solidFill>
            <a:srgbClr val="EAF7EF"/>
          </a:solidFill>
          <a:ln w="12700">
            <a:solidFill>
              <a:srgbClr val="B6E3C1"/>
            </a:solidFill>
          </a:ln>
        </p:spPr>
        <p:txBody>
          <a:bodyPr wrap="square" lIns="635" tIns="635" rIns="635" bIns="635" rtlCol="0" anchor="ctr">
            <a:normAutofit/>
          </a:bodyPr>
          <a:lstStyle/>
          <a:p>
            <a:pPr algn="ctr" indent="0" marL="0">
              <a:buNone/>
            </a:pPr>
            <a:r>
              <a:rPr lang="en-US" sz="1100" b="1" dirty="0">
                <a:solidFill>
                  <a:srgbClr val="1C2430"/>
                </a:solidFill>
              </a:rPr>
              <a:t>протокол</a:t>
            </a:r>
            <a:endParaRPr lang="en-US" sz="1100" dirty="0"/>
          </a:p>
          <a:p>
            <a:pPr algn="ctr" indent="0" marL="0">
              <a:buNone/>
            </a:pPr>
            <a:r>
              <a:rPr lang="en-US" sz="1100" b="1" dirty="0">
                <a:solidFill>
                  <a:srgbClr val="1C2430"/>
                </a:solidFill>
              </a:rPr>
              <a:t>взаимодействия</a:t>
            </a:r>
            <a:endParaRPr lang="en-US" sz="1100" dirty="0"/>
          </a:p>
        </p:txBody>
      </p:sp>
      <p:sp>
        <p:nvSpPr>
          <p:cNvPr id="11" name="Shape 9"/>
          <p:cNvSpPr/>
          <p:nvPr/>
        </p:nvSpPr>
        <p:spPr>
          <a:xfrm>
            <a:off x="320040" y="6473952"/>
            <a:ext cx="11521440" cy="0"/>
          </a:xfrm>
          <a:prstGeom prst="line">
            <a:avLst/>
          </a:prstGeom>
          <a:noFill/>
          <a:ln w="7620">
            <a:solidFill>
              <a:srgbClr val="DDE3EA"/>
            </a:solidFill>
            <a:prstDash val="solid"/>
          </a:ln>
        </p:spPr>
      </p:sp>
      <p:sp>
        <p:nvSpPr>
          <p:cNvPr id="12" name="Text 10"/>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Источники: Shoham &amp; Leyton-Brown, Multiagent Systems; Wooldridge, An Introduction to MultiAgent Systems; Душкин, ИИ: современный агентный подход</a:t>
            </a:r>
            <a:endParaRPr lang="en-US" sz="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320040" y="164592"/>
            <a:ext cx="6583680" cy="256032"/>
          </a:xfrm>
          <a:prstGeom prst="rect">
            <a:avLst/>
          </a:prstGeom>
          <a:noFill/>
          <a:ln/>
        </p:spPr>
        <p:txBody>
          <a:bodyPr wrap="square" lIns="0" tIns="0" rIns="0" bIns="0" rtlCol="0" anchor="ctr"/>
          <a:lstStyle/>
          <a:p>
            <a:pPr indent="0" marL="0">
              <a:buNone/>
            </a:pPr>
            <a:r>
              <a:rPr lang="en-US" sz="850" b="1" dirty="0">
                <a:solidFill>
                  <a:srgbClr val="607080"/>
                </a:solidFill>
                <a:latin typeface="Aptos" pitchFamily="34" charset="0"/>
                <a:ea typeface="Aptos" pitchFamily="34" charset="-122"/>
                <a:cs typeface="Aptos" pitchFamily="34" charset="-120"/>
              </a:rPr>
              <a:t>15. Будущее и выводы</a:t>
            </a:r>
            <a:endParaRPr lang="en-US" sz="850" dirty="0"/>
          </a:p>
        </p:txBody>
      </p:sp>
      <p:sp>
        <p:nvSpPr>
          <p:cNvPr id="3" name="Text 1"/>
          <p:cNvSpPr/>
          <p:nvPr/>
        </p:nvSpPr>
        <p:spPr>
          <a:xfrm>
            <a:off x="320040" y="438912"/>
            <a:ext cx="9966960" cy="502920"/>
          </a:xfrm>
          <a:prstGeom prst="rect">
            <a:avLst/>
          </a:prstGeom>
          <a:noFill/>
          <a:ln/>
        </p:spPr>
        <p:txBody>
          <a:bodyPr wrap="square" lIns="0" tIns="0" rIns="0" bIns="0" rtlCol="0" anchor="ctr">
            <a:normAutofit/>
          </a:bodyPr>
          <a:lstStyle/>
          <a:p>
            <a:pPr indent="0" marL="0">
              <a:buNone/>
            </a:pPr>
            <a:r>
              <a:rPr lang="en-US" sz="2600" b="1" dirty="0">
                <a:solidFill>
                  <a:srgbClr val="1C2430"/>
                </a:solidFill>
                <a:latin typeface="Aptos Display" pitchFamily="34" charset="0"/>
                <a:ea typeface="Aptos Display" pitchFamily="34" charset="-122"/>
                <a:cs typeface="Aptos Display" pitchFamily="34" charset="-120"/>
              </a:rPr>
              <a:t>Рекомендуемая литература для ИТ-специалистов</a:t>
            </a:r>
            <a:endParaRPr lang="en-US" sz="2600" dirty="0"/>
          </a:p>
        </p:txBody>
      </p:sp>
      <p:sp>
        <p:nvSpPr>
          <p:cNvPr id="4" name="Shape 2"/>
          <p:cNvSpPr/>
          <p:nvPr/>
        </p:nvSpPr>
        <p:spPr>
          <a:xfrm>
            <a:off x="320040" y="1033272"/>
            <a:ext cx="11521440" cy="0"/>
          </a:xfrm>
          <a:prstGeom prst="line">
            <a:avLst/>
          </a:prstGeom>
          <a:noFill/>
          <a:ln w="12700">
            <a:solidFill>
              <a:srgbClr val="D0D7DE"/>
            </a:solidFill>
            <a:prstDash val="solid"/>
          </a:ln>
        </p:spPr>
      </p:sp>
      <p:sp>
        <p:nvSpPr>
          <p:cNvPr id="5" name="Text 3"/>
          <p:cNvSpPr/>
          <p:nvPr/>
        </p:nvSpPr>
        <p:spPr>
          <a:xfrm>
            <a:off x="11155680" y="228600"/>
            <a:ext cx="640080" cy="320040"/>
          </a:xfrm>
          <a:prstGeom prst="rect">
            <a:avLst/>
          </a:prstGeom>
          <a:noFill/>
          <a:ln/>
        </p:spPr>
        <p:txBody>
          <a:bodyPr wrap="square" lIns="0" tIns="0" rIns="0" bIns="0" rtlCol="0" anchor="ctr"/>
          <a:lstStyle/>
          <a:p>
            <a:pPr algn="r" indent="0" marL="0">
              <a:buNone/>
            </a:pPr>
            <a:r>
              <a:rPr lang="en-US" sz="1300" b="1" dirty="0">
                <a:solidFill>
                  <a:srgbClr val="246BFE"/>
                </a:solidFill>
              </a:rPr>
              <a:t>40</a:t>
            </a:r>
            <a:endParaRPr lang="en-US" sz="1300" dirty="0"/>
          </a:p>
        </p:txBody>
      </p:sp>
      <p:sp>
        <p:nvSpPr>
          <p:cNvPr id="6" name="Text 4"/>
          <p:cNvSpPr/>
          <p:nvPr/>
        </p:nvSpPr>
        <p:spPr>
          <a:xfrm>
            <a:off x="475488" y="1417320"/>
            <a:ext cx="5897880" cy="4251960"/>
          </a:xfrm>
          <a:prstGeom prst="rect">
            <a:avLst/>
          </a:prstGeom>
          <a:noFill/>
          <a:ln/>
        </p:spPr>
        <p:txBody>
          <a:bodyPr wrap="square" lIns="762" tIns="762" rIns="762" bIns="762" rtlCol="0" anchor="t">
            <a:normAutofit/>
          </a:bodyPr>
          <a:lstStyle/>
          <a:p>
            <a:pPr indent="0" marL="0">
              <a:lnSpc>
                <a:spcPct val="95000"/>
              </a:lnSpc>
              <a:buNone/>
            </a:pPr>
            <a:r>
              <a:rPr lang="en-US" sz="1550" dirty="0">
                <a:solidFill>
                  <a:srgbClr val="1C2430"/>
                </a:solidFill>
                <a:latin typeface="Aptos" pitchFamily="34" charset="0"/>
                <a:ea typeface="Aptos" pitchFamily="34" charset="-122"/>
                <a:cs typeface="Aptos" pitchFamily="34" charset="-120"/>
              </a:rPr>
              <a:t>• Yoav Shoham, Kevin Leyton-Brown. Multiagent Systems: Algorithmic, Game-Theoretic, and Logical Foundations</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Michael Wooldridge. An Introduction to MultiAgent Systems</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Noam Nisan, Tim Roughgarden, Eva Tardos, Vijay Vazirani, eds. Algorithmic Game Theory</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Tim Roughgarden. Twenty Lectures on Algorithmic Game Theory</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Martin Osborne, Ariel Rubinstein. A Course in Game Theory; Kevin Leyton-Brown, Yoav Shoham. Essentials of Game Theory</a:t>
            </a:r>
            <a:endParaRPr lang="en-US" sz="1550" dirty="0"/>
          </a:p>
          <a:p>
            <a:pPr indent="0" marL="0">
              <a:lnSpc>
                <a:spcPct val="95000"/>
              </a:lnSpc>
              <a:buNone/>
            </a:pPr>
            <a:r>
              <a:rPr lang="en-US" sz="1550" dirty="0">
                <a:solidFill>
                  <a:srgbClr val="1C2430"/>
                </a:solidFill>
                <a:latin typeface="Aptos" pitchFamily="34" charset="0"/>
                <a:ea typeface="Aptos" pitchFamily="34" charset="-122"/>
                <a:cs typeface="Aptos" pitchFamily="34" charset="-120"/>
              </a:rPr>
              <a:t>• David Easley, Jon Kleinberg. Networks, Crowds, and Markets; Р. В. Душкин. Искусственный интеллект: современный агентный подход</a:t>
            </a:r>
            <a:endParaRPr lang="en-US" sz="1550" dirty="0"/>
          </a:p>
        </p:txBody>
      </p:sp>
      <p:sp>
        <p:nvSpPr>
          <p:cNvPr id="7" name="Text 5"/>
          <p:cNvSpPr/>
          <p:nvPr/>
        </p:nvSpPr>
        <p:spPr>
          <a:xfrm>
            <a:off x="6812280" y="1600200"/>
            <a:ext cx="3931920" cy="393192"/>
          </a:xfrm>
          <a:prstGeom prst="rect">
            <a:avLst/>
          </a:prstGeom>
          <a:solidFill>
            <a:srgbClr val="E7F0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модель игры</a:t>
            </a:r>
            <a:endParaRPr lang="en-US" sz="900" dirty="0"/>
          </a:p>
        </p:txBody>
      </p:sp>
      <p:sp>
        <p:nvSpPr>
          <p:cNvPr id="8" name="Text 6"/>
          <p:cNvSpPr/>
          <p:nvPr/>
        </p:nvSpPr>
        <p:spPr>
          <a:xfrm>
            <a:off x="7040880" y="2075688"/>
            <a:ext cx="3474720" cy="393192"/>
          </a:xfrm>
          <a:prstGeom prst="rect">
            <a:avLst/>
          </a:prstGeom>
          <a:solidFill>
            <a:srgbClr val="EAF7E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симулятор среды</a:t>
            </a:r>
            <a:endParaRPr lang="en-US" sz="900" dirty="0"/>
          </a:p>
        </p:txBody>
      </p:sp>
      <p:sp>
        <p:nvSpPr>
          <p:cNvPr id="9" name="Text 7"/>
          <p:cNvSpPr/>
          <p:nvPr/>
        </p:nvSpPr>
        <p:spPr>
          <a:xfrm>
            <a:off x="7269480" y="2551176"/>
            <a:ext cx="3017520" cy="393192"/>
          </a:xfrm>
          <a:prstGeom prst="rect">
            <a:avLst/>
          </a:prstGeom>
          <a:solidFill>
            <a:srgbClr val="FFF4D6"/>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поиск равновесия</a:t>
            </a:r>
            <a:endParaRPr lang="en-US" sz="900" dirty="0"/>
          </a:p>
        </p:txBody>
      </p:sp>
      <p:sp>
        <p:nvSpPr>
          <p:cNvPr id="10" name="Text 8"/>
          <p:cNvSpPr/>
          <p:nvPr/>
        </p:nvSpPr>
        <p:spPr>
          <a:xfrm>
            <a:off x="7498080" y="3026664"/>
            <a:ext cx="2560320" cy="393192"/>
          </a:xfrm>
          <a:prstGeom prst="rect">
            <a:avLst/>
          </a:prstGeom>
          <a:solidFill>
            <a:srgbClr val="F1EDFF"/>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протокол / API</a:t>
            </a:r>
            <a:endParaRPr lang="en-US" sz="900" dirty="0"/>
          </a:p>
        </p:txBody>
      </p:sp>
      <p:sp>
        <p:nvSpPr>
          <p:cNvPr id="11" name="Text 9"/>
          <p:cNvSpPr/>
          <p:nvPr/>
        </p:nvSpPr>
        <p:spPr>
          <a:xfrm>
            <a:off x="7726680" y="3502152"/>
            <a:ext cx="2103120" cy="393192"/>
          </a:xfrm>
          <a:prstGeom prst="rect">
            <a:avLst/>
          </a:prstGeom>
          <a:solidFill>
            <a:srgbClr val="FFE8E8"/>
          </a:solidFill>
          <a:ln w="12700">
            <a:solidFill>
              <a:srgbClr val="FFFFFF"/>
            </a:solidFill>
          </a:ln>
        </p:spPr>
        <p:txBody>
          <a:bodyPr wrap="square" lIns="635" tIns="635" rIns="635" bIns="635" rtlCol="0" anchor="ctr">
            <a:normAutofit/>
          </a:bodyPr>
          <a:lstStyle/>
          <a:p>
            <a:pPr algn="ctr" indent="0" marL="0">
              <a:buNone/>
            </a:pPr>
            <a:r>
              <a:rPr lang="en-US" sz="900" b="1" dirty="0">
                <a:solidFill>
                  <a:srgbClr val="1C2430"/>
                </a:solidFill>
              </a:rPr>
              <a:t>мониторинг и аудит</a:t>
            </a:r>
            <a:endParaRPr lang="en-US" sz="900" dirty="0"/>
          </a:p>
        </p:txBody>
      </p:sp>
      <p:sp>
        <p:nvSpPr>
          <p:cNvPr id="12" name="Shape 10"/>
          <p:cNvSpPr/>
          <p:nvPr/>
        </p:nvSpPr>
        <p:spPr>
          <a:xfrm>
            <a:off x="320040" y="6473952"/>
            <a:ext cx="11521440" cy="0"/>
          </a:xfrm>
          <a:prstGeom prst="line">
            <a:avLst/>
          </a:prstGeom>
          <a:noFill/>
          <a:ln w="7620">
            <a:solidFill>
              <a:srgbClr val="DDE3EA"/>
            </a:solidFill>
            <a:prstDash val="solid"/>
          </a:ln>
        </p:spPr>
      </p:sp>
      <p:sp>
        <p:nvSpPr>
          <p:cNvPr id="13" name="Text 11"/>
          <p:cNvSpPr/>
          <p:nvPr/>
        </p:nvSpPr>
        <p:spPr>
          <a:xfrm>
            <a:off x="320040" y="6537960"/>
            <a:ext cx="11064240" cy="164592"/>
          </a:xfrm>
          <a:prstGeom prst="rect">
            <a:avLst/>
          </a:prstGeom>
          <a:noFill/>
          <a:ln/>
        </p:spPr>
        <p:txBody>
          <a:bodyPr wrap="square" lIns="0" tIns="0" rIns="0" bIns="0" rtlCol="0" anchor="ctr">
            <a:normAutofit/>
          </a:bodyPr>
          <a:lstStyle/>
          <a:p>
            <a:pPr indent="0" marL="0">
              <a:buNone/>
            </a:pPr>
            <a:r>
              <a:rPr lang="en-US" sz="650" dirty="0">
                <a:solidFill>
                  <a:srgbClr val="7B8794"/>
                </a:solidFill>
              </a:rPr>
              <a:t>Литература: Shoham &amp; Leyton-Brown; Wooldridge; Nisan et al.; Roughgarden; Osborne &amp; Rubinstein; Leyton-Brown &amp; Shoham; Easley &amp; Kleinberg; Душкин</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Теория игр для мультиагентных систем</dc:title>
  <dc:subject>Теория игр применительно к мультиагентным системам</dc:subject>
  <dc:creator>OpenAI</dc:creator>
  <cp:lastModifiedBy>OpenAI</cp:lastModifiedBy>
  <cp:revision>1</cp:revision>
  <dcterms:created xsi:type="dcterms:W3CDTF">2026-05-11T07:18:57Z</dcterms:created>
  <dcterms:modified xsi:type="dcterms:W3CDTF">2026-05-11T07:18:57Z</dcterms:modified>
</cp:coreProperties>
</file>